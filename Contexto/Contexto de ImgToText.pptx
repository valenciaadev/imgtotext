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Bold" charset="1" panose="00000800000000000000"/>
      <p:regular r:id="rId23"/>
    </p:embeddedFont>
    <p:embeddedFont>
      <p:font typeface="Lexend Deca" charset="1" panose="00000000000000000000"/>
      <p:regular r:id="rId24"/>
    </p:embeddedFont>
    <p:embeddedFont>
      <p:font typeface="Poppins"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12" Target="../media/image19.pn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3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0.png" Type="http://schemas.openxmlformats.org/officeDocument/2006/relationships/image"/><Relationship Id="rId4" Target="../media/image3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4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4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708571" y="0"/>
            <a:ext cx="9579429" cy="10287000"/>
          </a:xfrm>
          <a:custGeom>
            <a:avLst/>
            <a:gdLst/>
            <a:ahLst/>
            <a:cxnLst/>
            <a:rect r="r" b="b" t="t" l="l"/>
            <a:pathLst>
              <a:path h="10287000" w="9579429">
                <a:moveTo>
                  <a:pt x="0" y="0"/>
                </a:moveTo>
                <a:lnTo>
                  <a:pt x="9579429" y="0"/>
                </a:lnTo>
                <a:lnTo>
                  <a:pt x="9579429" y="10287000"/>
                </a:lnTo>
                <a:lnTo>
                  <a:pt x="0" y="10287000"/>
                </a:lnTo>
                <a:lnTo>
                  <a:pt x="0" y="0"/>
                </a:lnTo>
                <a:close/>
              </a:path>
            </a:pathLst>
          </a:custGeom>
          <a:blipFill>
            <a:blip r:embed="rId3"/>
            <a:stretch>
              <a:fillRect l="0" t="0" r="0" b="0"/>
            </a:stretch>
          </a:blipFill>
        </p:spPr>
      </p:sp>
      <p:sp>
        <p:nvSpPr>
          <p:cNvPr name="TextBox 4" id="4"/>
          <p:cNvSpPr txBox="true"/>
          <p:nvPr/>
        </p:nvSpPr>
        <p:spPr>
          <a:xfrm rot="0">
            <a:off x="768096" y="1103583"/>
            <a:ext cx="9436608" cy="1864200"/>
          </a:xfrm>
          <a:prstGeom prst="rect">
            <a:avLst/>
          </a:prstGeom>
        </p:spPr>
        <p:txBody>
          <a:bodyPr anchor="t" rtlCol="false" tIns="0" lIns="0" bIns="0" rIns="0">
            <a:spAutoFit/>
          </a:bodyPr>
          <a:lstStyle/>
          <a:p>
            <a:pPr algn="l">
              <a:lnSpc>
                <a:spcPts val="7015"/>
              </a:lnSpc>
            </a:pPr>
            <a:r>
              <a:rPr lang="en-US" sz="6681" b="true">
                <a:solidFill>
                  <a:srgbClr val="FFFFFF"/>
                </a:solidFill>
                <a:latin typeface="Poppins Bold"/>
                <a:ea typeface="Poppins Bold"/>
                <a:cs typeface="Poppins Bold"/>
                <a:sym typeface="Poppins Bold"/>
              </a:rPr>
              <a:t>ASISTENTE DE ANÁLISIS DE IMAGEN Y</a:t>
            </a:r>
          </a:p>
        </p:txBody>
      </p:sp>
      <p:sp>
        <p:nvSpPr>
          <p:cNvPr name="TextBox 5" id="5"/>
          <p:cNvSpPr txBox="true"/>
          <p:nvPr/>
        </p:nvSpPr>
        <p:spPr>
          <a:xfrm rot="0">
            <a:off x="768096" y="2940965"/>
            <a:ext cx="11594592" cy="956638"/>
          </a:xfrm>
          <a:prstGeom prst="rect">
            <a:avLst/>
          </a:prstGeom>
        </p:spPr>
        <p:txBody>
          <a:bodyPr anchor="t" rtlCol="false" tIns="0" lIns="0" bIns="0" rIns="0">
            <a:spAutoFit/>
          </a:bodyPr>
          <a:lstStyle/>
          <a:p>
            <a:pPr algn="l">
              <a:lnSpc>
                <a:spcPts val="6845"/>
              </a:lnSpc>
            </a:pPr>
            <a:r>
              <a:rPr lang="en-US" sz="6519" b="true">
                <a:solidFill>
                  <a:srgbClr val="FF694F"/>
                </a:solidFill>
                <a:latin typeface="Poppins Bold"/>
                <a:ea typeface="Poppins Bold"/>
                <a:cs typeface="Poppins Bold"/>
                <a:sym typeface="Poppins Bold"/>
              </a:rPr>
              <a:t>DESCRIPCIÓN AUTOMÁTICA</a:t>
            </a:r>
          </a:p>
        </p:txBody>
      </p:sp>
      <p:sp>
        <p:nvSpPr>
          <p:cNvPr name="Freeform 6" id="6"/>
          <p:cNvSpPr/>
          <p:nvPr/>
        </p:nvSpPr>
        <p:spPr>
          <a:xfrm flipH="false" flipV="false" rot="0">
            <a:off x="653143" y="4282618"/>
            <a:ext cx="2830286" cy="217945"/>
          </a:xfrm>
          <a:custGeom>
            <a:avLst/>
            <a:gdLst/>
            <a:ahLst/>
            <a:cxnLst/>
            <a:rect r="r" b="b" t="t" l="l"/>
            <a:pathLst>
              <a:path h="217945" w="2830286">
                <a:moveTo>
                  <a:pt x="0" y="0"/>
                </a:moveTo>
                <a:lnTo>
                  <a:pt x="2830286" y="0"/>
                </a:lnTo>
                <a:lnTo>
                  <a:pt x="2830286" y="217945"/>
                </a:lnTo>
                <a:lnTo>
                  <a:pt x="0" y="217945"/>
                </a:lnTo>
                <a:lnTo>
                  <a:pt x="0" y="0"/>
                </a:lnTo>
                <a:close/>
              </a:path>
            </a:pathLst>
          </a:custGeom>
          <a:blipFill>
            <a:blip r:embed="rId4"/>
            <a:stretch>
              <a:fillRect l="0" t="0" r="0" b="0"/>
            </a:stretch>
          </a:blipFill>
        </p:spPr>
      </p:sp>
      <p:sp>
        <p:nvSpPr>
          <p:cNvPr name="TextBox 7" id="7"/>
          <p:cNvSpPr txBox="true"/>
          <p:nvPr/>
        </p:nvSpPr>
        <p:spPr>
          <a:xfrm rot="0">
            <a:off x="768096" y="4861521"/>
            <a:ext cx="6528816" cy="876378"/>
          </a:xfrm>
          <a:prstGeom prst="rect">
            <a:avLst/>
          </a:prstGeom>
        </p:spPr>
        <p:txBody>
          <a:bodyPr anchor="t" rtlCol="false" tIns="0" lIns="0" bIns="0" rIns="0">
            <a:spAutoFit/>
          </a:bodyPr>
          <a:lstStyle/>
          <a:p>
            <a:pPr algn="l">
              <a:lnSpc>
                <a:spcPts val="3569"/>
              </a:lnSpc>
            </a:pPr>
            <a:r>
              <a:rPr lang="en-US" sz="2549">
                <a:solidFill>
                  <a:srgbClr val="FFFFFF"/>
                </a:solidFill>
                <a:latin typeface="Lexend Deca"/>
                <a:ea typeface="Lexend Deca"/>
                <a:cs typeface="Lexend Deca"/>
                <a:sym typeface="Lexend Deca"/>
              </a:rPr>
              <a:t>Especificaciones Técnicas y Justificación de Arquitectura con IA Generativa</a:t>
            </a:r>
          </a:p>
        </p:txBody>
      </p:sp>
      <p:sp>
        <p:nvSpPr>
          <p:cNvPr name="TextBox 8" id="8"/>
          <p:cNvSpPr txBox="true"/>
          <p:nvPr/>
        </p:nvSpPr>
        <p:spPr>
          <a:xfrm rot="0">
            <a:off x="768096" y="6118899"/>
            <a:ext cx="7022592" cy="1695620"/>
          </a:xfrm>
          <a:prstGeom prst="rect">
            <a:avLst/>
          </a:prstGeom>
        </p:spPr>
        <p:txBody>
          <a:bodyPr anchor="t" rtlCol="false" tIns="0" lIns="0" bIns="0" rIns="0">
            <a:spAutoFit/>
          </a:bodyPr>
          <a:lstStyle/>
          <a:p>
            <a:pPr algn="l">
              <a:lnSpc>
                <a:spcPts val="3366"/>
              </a:lnSpc>
            </a:pPr>
            <a:r>
              <a:rPr lang="en-US" sz="2589">
                <a:solidFill>
                  <a:srgbClr val="FFFFFF"/>
                </a:solidFill>
                <a:latin typeface="Lexend Deca"/>
                <a:ea typeface="Lexend Deca"/>
                <a:cs typeface="Lexend Deca"/>
                <a:sym typeface="Lexend Deca"/>
              </a:rPr>
              <a:t>Solución inteligente para recibir imágenes como entrada, procesar sus características visuales y generar descripciones detalladas y coherentes en lenguaje natural.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579429" y="0"/>
            <a:ext cx="3048000" cy="10287000"/>
          </a:xfrm>
          <a:custGeom>
            <a:avLst/>
            <a:gdLst/>
            <a:ahLst/>
            <a:cxnLst/>
            <a:rect r="r" b="b" t="t" l="l"/>
            <a:pathLst>
              <a:path h="10287000" w="3048000">
                <a:moveTo>
                  <a:pt x="0" y="0"/>
                </a:moveTo>
                <a:lnTo>
                  <a:pt x="3048000" y="0"/>
                </a:lnTo>
                <a:lnTo>
                  <a:pt x="3048000" y="10287000"/>
                </a:lnTo>
                <a:lnTo>
                  <a:pt x="0" y="10287000"/>
                </a:lnTo>
                <a:lnTo>
                  <a:pt x="0" y="0"/>
                </a:lnTo>
                <a:close/>
              </a:path>
            </a:pathLst>
          </a:custGeom>
          <a:blipFill>
            <a:blip r:embed="rId3"/>
            <a:stretch>
              <a:fillRect l="0" t="0" r="0" b="0"/>
            </a:stretch>
          </a:blipFill>
        </p:spPr>
      </p:sp>
      <p:sp>
        <p:nvSpPr>
          <p:cNvPr name="Freeform 4" id="4"/>
          <p:cNvSpPr/>
          <p:nvPr/>
        </p:nvSpPr>
        <p:spPr>
          <a:xfrm flipH="false" flipV="false" rot="0">
            <a:off x="9797143" y="0"/>
            <a:ext cx="8490857" cy="10287000"/>
          </a:xfrm>
          <a:custGeom>
            <a:avLst/>
            <a:gdLst/>
            <a:ahLst/>
            <a:cxnLst/>
            <a:rect r="r" b="b" t="t" l="l"/>
            <a:pathLst>
              <a:path h="10287000" w="8490857">
                <a:moveTo>
                  <a:pt x="0" y="0"/>
                </a:moveTo>
                <a:lnTo>
                  <a:pt x="8490857" y="0"/>
                </a:lnTo>
                <a:lnTo>
                  <a:pt x="8490857" y="10287000"/>
                </a:lnTo>
                <a:lnTo>
                  <a:pt x="0" y="10287000"/>
                </a:lnTo>
                <a:lnTo>
                  <a:pt x="0" y="0"/>
                </a:lnTo>
                <a:close/>
              </a:path>
            </a:pathLst>
          </a:custGeom>
          <a:blipFill>
            <a:blip r:embed="rId4"/>
            <a:stretch>
              <a:fillRect l="0" t="0" r="0" b="0"/>
            </a:stretch>
          </a:blipFill>
        </p:spPr>
      </p:sp>
      <p:sp>
        <p:nvSpPr>
          <p:cNvPr name="TextBox 5" id="5"/>
          <p:cNvSpPr txBox="true"/>
          <p:nvPr/>
        </p:nvSpPr>
        <p:spPr>
          <a:xfrm rot="0">
            <a:off x="640080" y="603141"/>
            <a:ext cx="10163865" cy="959866"/>
          </a:xfrm>
          <a:prstGeom prst="rect">
            <a:avLst/>
          </a:prstGeom>
        </p:spPr>
        <p:txBody>
          <a:bodyPr anchor="t" rtlCol="false" tIns="0" lIns="0" bIns="0" rIns="0">
            <a:spAutoFit/>
          </a:bodyPr>
          <a:lstStyle/>
          <a:p>
            <a:pPr algn="l">
              <a:lnSpc>
                <a:spcPts val="6407"/>
              </a:lnSpc>
            </a:pPr>
            <a:r>
              <a:rPr lang="en-US" b="true" sz="7450" spc="-149">
                <a:solidFill>
                  <a:srgbClr val="FFFFFF"/>
                </a:solidFill>
                <a:latin typeface="Poppins Bold"/>
                <a:ea typeface="Poppins Bold"/>
                <a:cs typeface="Poppins Bold"/>
                <a:sym typeface="Poppins Bold"/>
              </a:rPr>
              <a:t>PROBLEMA Y USUARIO</a:t>
            </a:r>
          </a:p>
        </p:txBody>
      </p:sp>
      <p:sp>
        <p:nvSpPr>
          <p:cNvPr name="TextBox 6" id="6"/>
          <p:cNvSpPr txBox="true"/>
          <p:nvPr/>
        </p:nvSpPr>
        <p:spPr>
          <a:xfrm rot="0">
            <a:off x="640080" y="1705883"/>
            <a:ext cx="5522976" cy="774725"/>
          </a:xfrm>
          <a:prstGeom prst="rect">
            <a:avLst/>
          </a:prstGeom>
        </p:spPr>
        <p:txBody>
          <a:bodyPr anchor="t" rtlCol="false" tIns="0" lIns="0" bIns="0" rIns="0">
            <a:spAutoFit/>
          </a:bodyPr>
          <a:lstStyle/>
          <a:p>
            <a:pPr algn="l">
              <a:lnSpc>
                <a:spcPts val="5185"/>
              </a:lnSpc>
            </a:pPr>
            <a:r>
              <a:rPr lang="en-US" b="true" sz="6030" spc="-120">
                <a:solidFill>
                  <a:srgbClr val="F46051"/>
                </a:solidFill>
                <a:latin typeface="Poppins Bold"/>
                <a:ea typeface="Poppins Bold"/>
                <a:cs typeface="Poppins Bold"/>
                <a:sym typeface="Poppins Bold"/>
              </a:rPr>
              <a:t>OBJETIVO</a:t>
            </a:r>
          </a:p>
        </p:txBody>
      </p:sp>
      <p:sp>
        <p:nvSpPr>
          <p:cNvPr name="TextBox 7" id="7"/>
          <p:cNvSpPr txBox="true"/>
          <p:nvPr/>
        </p:nvSpPr>
        <p:spPr>
          <a:xfrm rot="0">
            <a:off x="694944" y="2636661"/>
            <a:ext cx="8211312" cy="392182"/>
          </a:xfrm>
          <a:prstGeom prst="rect">
            <a:avLst/>
          </a:prstGeom>
        </p:spPr>
        <p:txBody>
          <a:bodyPr anchor="t" rtlCol="false" tIns="0" lIns="0" bIns="0" rIns="0">
            <a:spAutoFit/>
          </a:bodyPr>
          <a:lstStyle/>
          <a:p>
            <a:pPr algn="l">
              <a:lnSpc>
                <a:spcPts val="3228"/>
              </a:lnSpc>
            </a:pPr>
            <a:r>
              <a:rPr lang="en-US" sz="2306" spc="-46">
                <a:solidFill>
                  <a:srgbClr val="FFFFFF"/>
                </a:solidFill>
                <a:latin typeface="Lexend Deca"/>
                <a:ea typeface="Lexend Deca"/>
                <a:cs typeface="Lexend Deca"/>
                <a:sym typeface="Lexend Deca"/>
              </a:rPr>
              <a:t>La accesibilidad visual en plataformas digitales es limitada</a:t>
            </a:r>
          </a:p>
        </p:txBody>
      </p:sp>
      <p:sp>
        <p:nvSpPr>
          <p:cNvPr name="TextBox 8" id="8"/>
          <p:cNvSpPr txBox="true"/>
          <p:nvPr/>
        </p:nvSpPr>
        <p:spPr>
          <a:xfrm rot="0">
            <a:off x="694944" y="3185992"/>
            <a:ext cx="6272784" cy="826354"/>
          </a:xfrm>
          <a:prstGeom prst="rect">
            <a:avLst/>
          </a:prstGeom>
        </p:spPr>
        <p:txBody>
          <a:bodyPr anchor="t" rtlCol="false" tIns="0" lIns="0" bIns="0" rIns="0">
            <a:spAutoFit/>
          </a:bodyPr>
          <a:lstStyle/>
          <a:p>
            <a:pPr algn="l">
              <a:lnSpc>
                <a:spcPts val="3398"/>
              </a:lnSpc>
            </a:pPr>
            <a:r>
              <a:rPr lang="en-US" sz="2427" spc="-48">
                <a:solidFill>
                  <a:srgbClr val="FFFFFF"/>
                </a:solidFill>
                <a:latin typeface="Lexend Deca"/>
                <a:ea typeface="Lexend Deca"/>
                <a:cs typeface="Lexend Deca"/>
                <a:sym typeface="Lexend Deca"/>
              </a:rPr>
              <a:t>El etiquetado manual de miles de imágenes es costoso e ineficiente</a:t>
            </a:r>
          </a:p>
        </p:txBody>
      </p:sp>
      <p:sp>
        <p:nvSpPr>
          <p:cNvPr name="TextBox 9" id="9"/>
          <p:cNvSpPr txBox="true"/>
          <p:nvPr/>
        </p:nvSpPr>
        <p:spPr>
          <a:xfrm rot="0">
            <a:off x="694944" y="4164746"/>
            <a:ext cx="5907024" cy="826354"/>
          </a:xfrm>
          <a:prstGeom prst="rect">
            <a:avLst/>
          </a:prstGeom>
        </p:spPr>
        <p:txBody>
          <a:bodyPr anchor="t" rtlCol="false" tIns="0" lIns="0" bIns="0" rIns="0">
            <a:spAutoFit/>
          </a:bodyPr>
          <a:lstStyle/>
          <a:p>
            <a:pPr algn="l">
              <a:lnSpc>
                <a:spcPts val="3398"/>
              </a:lnSpc>
            </a:pPr>
            <a:r>
              <a:rPr lang="en-US" sz="2427" spc="-48">
                <a:solidFill>
                  <a:srgbClr val="FFFFFF"/>
                </a:solidFill>
                <a:latin typeface="Lexend Deca"/>
                <a:ea typeface="Lexend Deca"/>
                <a:cs typeface="Lexend Deca"/>
                <a:sym typeface="Lexend Deca"/>
              </a:rPr>
              <a:t>Organizar activos digitales a gran escala consume tiempo y recursos</a:t>
            </a:r>
          </a:p>
        </p:txBody>
      </p:sp>
      <p:sp>
        <p:nvSpPr>
          <p:cNvPr name="TextBox 10" id="10"/>
          <p:cNvSpPr txBox="true"/>
          <p:nvPr/>
        </p:nvSpPr>
        <p:spPr>
          <a:xfrm rot="0">
            <a:off x="694944" y="7526291"/>
            <a:ext cx="4133088" cy="485361"/>
          </a:xfrm>
          <a:prstGeom prst="rect">
            <a:avLst/>
          </a:prstGeom>
        </p:spPr>
        <p:txBody>
          <a:bodyPr anchor="t" rtlCol="false" tIns="0" lIns="0" bIns="0" rIns="0">
            <a:spAutoFit/>
          </a:bodyPr>
          <a:lstStyle/>
          <a:p>
            <a:pPr algn="l">
              <a:lnSpc>
                <a:spcPts val="4022"/>
              </a:lnSpc>
            </a:pPr>
            <a:r>
              <a:rPr lang="en-US" sz="2873" spc="-57">
                <a:solidFill>
                  <a:srgbClr val="F46051"/>
                </a:solidFill>
                <a:latin typeface="Lexend Deca"/>
                <a:ea typeface="Lexend Deca"/>
                <a:cs typeface="Lexend Deca"/>
                <a:sym typeface="Lexend Deca"/>
              </a:rPr>
              <a:t>NECESIDAD ATENDIDA</a:t>
            </a:r>
          </a:p>
        </p:txBody>
      </p:sp>
      <p:sp>
        <p:nvSpPr>
          <p:cNvPr name="TextBox 11" id="11"/>
          <p:cNvSpPr txBox="true"/>
          <p:nvPr/>
        </p:nvSpPr>
        <p:spPr>
          <a:xfrm rot="0">
            <a:off x="694944" y="8147260"/>
            <a:ext cx="7827264" cy="1471128"/>
          </a:xfrm>
          <a:prstGeom prst="rect">
            <a:avLst/>
          </a:prstGeom>
        </p:spPr>
        <p:txBody>
          <a:bodyPr anchor="t" rtlCol="false" tIns="0" lIns="0" bIns="0" rIns="0">
            <a:spAutoFit/>
          </a:bodyPr>
          <a:lstStyle/>
          <a:p>
            <a:pPr algn="l">
              <a:lnSpc>
                <a:spcPts val="3934"/>
              </a:lnSpc>
            </a:pPr>
            <a:r>
              <a:rPr lang="en-US" sz="3278" spc="-65">
                <a:solidFill>
                  <a:srgbClr val="FFFFFF"/>
                </a:solidFill>
                <a:latin typeface="Lexend Deca"/>
                <a:ea typeface="Lexend Deca"/>
                <a:cs typeface="Lexend Deca"/>
                <a:sym typeface="Lexend Deca"/>
              </a:rPr>
              <a:t>Generación rápida, precisa, contextual y escalable de descripciones textuales a partir de entradas visuales arbitrarias.</a:t>
            </a:r>
          </a:p>
        </p:txBody>
      </p:sp>
      <p:sp>
        <p:nvSpPr>
          <p:cNvPr name="TextBox 12" id="12"/>
          <p:cNvSpPr txBox="true"/>
          <p:nvPr/>
        </p:nvSpPr>
        <p:spPr>
          <a:xfrm rot="0">
            <a:off x="640080" y="5295900"/>
            <a:ext cx="4133088" cy="422950"/>
          </a:xfrm>
          <a:prstGeom prst="rect">
            <a:avLst/>
          </a:prstGeom>
        </p:spPr>
        <p:txBody>
          <a:bodyPr anchor="t" rtlCol="false" tIns="0" lIns="0" bIns="0" rIns="0">
            <a:spAutoFit/>
          </a:bodyPr>
          <a:lstStyle/>
          <a:p>
            <a:pPr algn="l">
              <a:lnSpc>
                <a:spcPts val="3462"/>
              </a:lnSpc>
            </a:pPr>
            <a:r>
              <a:rPr lang="en-US" sz="2473" spc="-49">
                <a:solidFill>
                  <a:srgbClr val="F46051"/>
                </a:solidFill>
                <a:latin typeface="Lexend Deca"/>
                <a:ea typeface="Lexend Deca"/>
                <a:cs typeface="Lexend Deca"/>
                <a:sym typeface="Lexend Deca"/>
              </a:rPr>
              <a:t>USUARIO OBJETIVO</a:t>
            </a:r>
          </a:p>
        </p:txBody>
      </p:sp>
      <p:sp>
        <p:nvSpPr>
          <p:cNvPr name="TextBox 13" id="13"/>
          <p:cNvSpPr txBox="true"/>
          <p:nvPr/>
        </p:nvSpPr>
        <p:spPr>
          <a:xfrm rot="0">
            <a:off x="640080" y="5821941"/>
            <a:ext cx="8211312" cy="392182"/>
          </a:xfrm>
          <a:prstGeom prst="rect">
            <a:avLst/>
          </a:prstGeom>
        </p:spPr>
        <p:txBody>
          <a:bodyPr anchor="t" rtlCol="false" tIns="0" lIns="0" bIns="0" rIns="0">
            <a:spAutoFit/>
          </a:bodyPr>
          <a:lstStyle/>
          <a:p>
            <a:pPr algn="l">
              <a:lnSpc>
                <a:spcPts val="3228"/>
              </a:lnSpc>
            </a:pPr>
            <a:r>
              <a:rPr lang="en-US" sz="2306" spc="-46">
                <a:solidFill>
                  <a:srgbClr val="FFFFFF"/>
                </a:solidFill>
                <a:latin typeface="Lexend Deca"/>
                <a:ea typeface="Lexend Deca"/>
                <a:cs typeface="Lexend Deca"/>
                <a:sym typeface="Lexend Deca"/>
              </a:rPr>
              <a:t>Plataformas digitales con grandes volúmenes de imágenes </a:t>
            </a:r>
          </a:p>
        </p:txBody>
      </p:sp>
      <p:sp>
        <p:nvSpPr>
          <p:cNvPr name="TextBox 14" id="14"/>
          <p:cNvSpPr txBox="true"/>
          <p:nvPr/>
        </p:nvSpPr>
        <p:spPr>
          <a:xfrm rot="0">
            <a:off x="640080" y="6166499"/>
            <a:ext cx="8211312" cy="392182"/>
          </a:xfrm>
          <a:prstGeom prst="rect">
            <a:avLst/>
          </a:prstGeom>
        </p:spPr>
        <p:txBody>
          <a:bodyPr anchor="t" rtlCol="false" tIns="0" lIns="0" bIns="0" rIns="0">
            <a:spAutoFit/>
          </a:bodyPr>
          <a:lstStyle/>
          <a:p>
            <a:pPr algn="l">
              <a:lnSpc>
                <a:spcPts val="3228"/>
              </a:lnSpc>
            </a:pPr>
            <a:r>
              <a:rPr lang="en-US" sz="2306" spc="-46">
                <a:solidFill>
                  <a:srgbClr val="FFFFFF"/>
                </a:solidFill>
                <a:latin typeface="Lexend Deca"/>
                <a:ea typeface="Lexend Deca"/>
                <a:cs typeface="Lexend Deca"/>
                <a:sym typeface="Lexend Deca"/>
              </a:rPr>
              <a:t>Empresas que administran actvos digitales</a:t>
            </a:r>
          </a:p>
        </p:txBody>
      </p:sp>
      <p:sp>
        <p:nvSpPr>
          <p:cNvPr name="TextBox 15" id="15"/>
          <p:cNvSpPr txBox="true"/>
          <p:nvPr/>
        </p:nvSpPr>
        <p:spPr>
          <a:xfrm rot="0">
            <a:off x="640080" y="6511056"/>
            <a:ext cx="8939349" cy="392182"/>
          </a:xfrm>
          <a:prstGeom prst="rect">
            <a:avLst/>
          </a:prstGeom>
        </p:spPr>
        <p:txBody>
          <a:bodyPr anchor="t" rtlCol="false" tIns="0" lIns="0" bIns="0" rIns="0">
            <a:spAutoFit/>
          </a:bodyPr>
          <a:lstStyle/>
          <a:p>
            <a:pPr algn="l">
              <a:lnSpc>
                <a:spcPts val="3228"/>
              </a:lnSpc>
            </a:pPr>
            <a:r>
              <a:rPr lang="en-US" sz="2306" spc="-46">
                <a:solidFill>
                  <a:srgbClr val="FFFFFF"/>
                </a:solidFill>
                <a:latin typeface="Lexend Deca"/>
                <a:ea typeface="Lexend Deca"/>
                <a:cs typeface="Lexend Deca"/>
                <a:sym typeface="Lexend Deca"/>
              </a:rPr>
              <a:t>Usuarios que requieren descripciones visuales por accesibilidad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926286" y="0"/>
            <a:ext cx="9361714" cy="10287000"/>
          </a:xfrm>
          <a:custGeom>
            <a:avLst/>
            <a:gdLst/>
            <a:ahLst/>
            <a:cxnLst/>
            <a:rect r="r" b="b" t="t" l="l"/>
            <a:pathLst>
              <a:path h="10287000" w="9361714">
                <a:moveTo>
                  <a:pt x="0" y="0"/>
                </a:moveTo>
                <a:lnTo>
                  <a:pt x="9361714" y="0"/>
                </a:lnTo>
                <a:lnTo>
                  <a:pt x="9361714" y="10287000"/>
                </a:lnTo>
                <a:lnTo>
                  <a:pt x="0" y="10287000"/>
                </a:lnTo>
                <a:lnTo>
                  <a:pt x="0" y="0"/>
                </a:lnTo>
                <a:close/>
              </a:path>
            </a:pathLst>
          </a:custGeom>
          <a:blipFill>
            <a:blip r:embed="rId3"/>
            <a:stretch>
              <a:fillRect l="0" t="0" r="0" b="0"/>
            </a:stretch>
          </a:blipFill>
        </p:spPr>
      </p:sp>
      <p:sp>
        <p:nvSpPr>
          <p:cNvPr name="TextBox 4" id="4"/>
          <p:cNvSpPr txBox="true"/>
          <p:nvPr/>
        </p:nvSpPr>
        <p:spPr>
          <a:xfrm rot="0">
            <a:off x="640080" y="823467"/>
            <a:ext cx="8010144" cy="2265174"/>
          </a:xfrm>
          <a:prstGeom prst="rect">
            <a:avLst/>
          </a:prstGeom>
        </p:spPr>
        <p:txBody>
          <a:bodyPr anchor="t" rtlCol="false" tIns="0" lIns="0" bIns="0" rIns="0">
            <a:spAutoFit/>
          </a:bodyPr>
          <a:lstStyle/>
          <a:p>
            <a:pPr algn="l">
              <a:lnSpc>
                <a:spcPts val="8615"/>
              </a:lnSpc>
            </a:pPr>
            <a:r>
              <a:rPr lang="en-US" sz="7491">
                <a:solidFill>
                  <a:srgbClr val="FFFFFF"/>
                </a:solidFill>
                <a:latin typeface="Poppins"/>
                <a:ea typeface="Poppins"/>
                <a:cs typeface="Poppins"/>
                <a:sym typeface="Poppins"/>
              </a:rPr>
              <a:t>JUSTIFICACIÓN DEL USO DE</a:t>
            </a:r>
          </a:p>
        </p:txBody>
      </p:sp>
      <p:sp>
        <p:nvSpPr>
          <p:cNvPr name="TextBox 5" id="5"/>
          <p:cNvSpPr txBox="true"/>
          <p:nvPr/>
        </p:nvSpPr>
        <p:spPr>
          <a:xfrm rot="0">
            <a:off x="640080" y="2974998"/>
            <a:ext cx="7900416" cy="1243665"/>
          </a:xfrm>
          <a:prstGeom prst="rect">
            <a:avLst/>
          </a:prstGeom>
        </p:spPr>
        <p:txBody>
          <a:bodyPr anchor="t" rtlCol="false" tIns="0" lIns="0" bIns="0" rIns="0">
            <a:spAutoFit/>
          </a:bodyPr>
          <a:lstStyle/>
          <a:p>
            <a:pPr algn="l">
              <a:lnSpc>
                <a:spcPts val="9128"/>
              </a:lnSpc>
            </a:pPr>
            <a:r>
              <a:rPr lang="en-US" sz="7937">
                <a:solidFill>
                  <a:srgbClr val="E64E3C"/>
                </a:solidFill>
                <a:latin typeface="Poppins"/>
                <a:ea typeface="Poppins"/>
                <a:cs typeface="Poppins"/>
                <a:sym typeface="Poppins"/>
              </a:rPr>
              <a:t>IA GENERATIVA</a:t>
            </a:r>
          </a:p>
        </p:txBody>
      </p:sp>
      <p:sp>
        <p:nvSpPr>
          <p:cNvPr name="TextBox 6" id="6"/>
          <p:cNvSpPr txBox="true"/>
          <p:nvPr/>
        </p:nvSpPr>
        <p:spPr>
          <a:xfrm rot="0">
            <a:off x="640080" y="4620197"/>
            <a:ext cx="7534656" cy="896112"/>
          </a:xfrm>
          <a:prstGeom prst="rect">
            <a:avLst/>
          </a:prstGeom>
        </p:spPr>
        <p:txBody>
          <a:bodyPr anchor="t" rtlCol="false" tIns="0" lIns="0" bIns="0" rIns="0">
            <a:spAutoFit/>
          </a:bodyPr>
          <a:lstStyle/>
          <a:p>
            <a:pPr algn="l">
              <a:lnSpc>
                <a:spcPts val="3682"/>
              </a:lnSpc>
            </a:pPr>
            <a:r>
              <a:rPr lang="en-US" sz="2630">
                <a:solidFill>
                  <a:srgbClr val="FFFFFF"/>
                </a:solidFill>
                <a:latin typeface="Lexend Deca"/>
                <a:ea typeface="Lexend Deca"/>
                <a:cs typeface="Lexend Deca"/>
                <a:sym typeface="Lexend Deca"/>
              </a:rPr>
              <a:t>La visión y el lenguaje humano son no estructurados y altamente variables.</a:t>
            </a:r>
          </a:p>
        </p:txBody>
      </p:sp>
      <p:sp>
        <p:nvSpPr>
          <p:cNvPr name="TextBox 7" id="7"/>
          <p:cNvSpPr txBox="true"/>
          <p:nvPr/>
        </p:nvSpPr>
        <p:spPr>
          <a:xfrm rot="0">
            <a:off x="640080" y="5847165"/>
            <a:ext cx="7863840" cy="1417404"/>
          </a:xfrm>
          <a:prstGeom prst="rect">
            <a:avLst/>
          </a:prstGeom>
        </p:spPr>
        <p:txBody>
          <a:bodyPr anchor="t" rtlCol="false" tIns="0" lIns="0" bIns="0" rIns="0">
            <a:spAutoFit/>
          </a:bodyPr>
          <a:lstStyle/>
          <a:p>
            <a:pPr algn="l">
              <a:lnSpc>
                <a:spcPts val="3823"/>
              </a:lnSpc>
            </a:pPr>
            <a:r>
              <a:rPr lang="en-US" sz="2549">
                <a:solidFill>
                  <a:srgbClr val="FFFFFF"/>
                </a:solidFill>
                <a:latin typeface="Lexend Deca"/>
                <a:ea typeface="Lexend Deca"/>
                <a:cs typeface="Lexend Deca"/>
                <a:sym typeface="Lexend Deca"/>
              </a:rPr>
              <a:t>La programación tradicional exige reglas rígidas para cada caso, lo que resulta inviable ante la inmensa variedad de imágenes reales.</a:t>
            </a:r>
          </a:p>
        </p:txBody>
      </p:sp>
      <p:sp>
        <p:nvSpPr>
          <p:cNvPr name="TextBox 8" id="8"/>
          <p:cNvSpPr txBox="true"/>
          <p:nvPr/>
        </p:nvSpPr>
        <p:spPr>
          <a:xfrm rot="0">
            <a:off x="640080" y="7678251"/>
            <a:ext cx="8138160" cy="1417404"/>
          </a:xfrm>
          <a:prstGeom prst="rect">
            <a:avLst/>
          </a:prstGeom>
        </p:spPr>
        <p:txBody>
          <a:bodyPr anchor="t" rtlCol="false" tIns="0" lIns="0" bIns="0" rIns="0">
            <a:spAutoFit/>
          </a:bodyPr>
          <a:lstStyle/>
          <a:p>
            <a:pPr algn="l">
              <a:lnSpc>
                <a:spcPts val="3823"/>
              </a:lnSpc>
            </a:pPr>
            <a:r>
              <a:rPr lang="en-US" sz="2549">
                <a:solidFill>
                  <a:srgbClr val="FFFFFF"/>
                </a:solidFill>
                <a:latin typeface="Lexend Deca"/>
                <a:ea typeface="Lexend Deca"/>
                <a:cs typeface="Lexend Deca"/>
                <a:sym typeface="Lexend Deca"/>
              </a:rPr>
              <a:t>La IA generativa comprende la semántica de la escena, generaliza y produce descripciones fluidas y naturales con criterio humano.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30352" y="593020"/>
            <a:ext cx="13533120" cy="1050430"/>
          </a:xfrm>
          <a:prstGeom prst="rect">
            <a:avLst/>
          </a:prstGeom>
        </p:spPr>
        <p:txBody>
          <a:bodyPr anchor="t" rtlCol="false" tIns="0" lIns="0" bIns="0" rIns="0">
            <a:spAutoFit/>
          </a:bodyPr>
          <a:lstStyle/>
          <a:p>
            <a:pPr algn="l">
              <a:lnSpc>
                <a:spcPts val="7451"/>
              </a:lnSpc>
            </a:pPr>
            <a:r>
              <a:rPr lang="en-US" b="true" sz="7451" spc="-223">
                <a:solidFill>
                  <a:srgbClr val="FFFFFF"/>
                </a:solidFill>
                <a:latin typeface="Poppins Bold"/>
                <a:ea typeface="Poppins Bold"/>
                <a:cs typeface="Poppins Bold"/>
                <a:sym typeface="Poppins Bold"/>
              </a:rPr>
              <a:t>TIPO DE MODELO GENERATIVO</a:t>
            </a:r>
          </a:p>
        </p:txBody>
      </p:sp>
      <p:sp>
        <p:nvSpPr>
          <p:cNvPr name="TextBox 4" id="4"/>
          <p:cNvSpPr txBox="true"/>
          <p:nvPr/>
        </p:nvSpPr>
        <p:spPr>
          <a:xfrm rot="0">
            <a:off x="530352" y="1557220"/>
            <a:ext cx="6894576" cy="1035413"/>
          </a:xfrm>
          <a:prstGeom prst="rect">
            <a:avLst/>
          </a:prstGeom>
        </p:spPr>
        <p:txBody>
          <a:bodyPr anchor="t" rtlCol="false" tIns="0" lIns="0" bIns="0" rIns="0">
            <a:spAutoFit/>
          </a:bodyPr>
          <a:lstStyle/>
          <a:p>
            <a:pPr algn="l">
              <a:lnSpc>
                <a:spcPts val="7289"/>
              </a:lnSpc>
            </a:pPr>
            <a:r>
              <a:rPr lang="en-US" b="true" sz="7289" spc="-218">
                <a:solidFill>
                  <a:srgbClr val="F46551"/>
                </a:solidFill>
                <a:latin typeface="Poppins Bold"/>
                <a:ea typeface="Poppins Bold"/>
                <a:cs typeface="Poppins Bold"/>
                <a:sym typeface="Poppins Bold"/>
              </a:rPr>
              <a:t>SELECCIONADO</a:t>
            </a:r>
          </a:p>
        </p:txBody>
      </p:sp>
      <p:sp>
        <p:nvSpPr>
          <p:cNvPr name="TextBox 5" id="5"/>
          <p:cNvSpPr txBox="true"/>
          <p:nvPr/>
        </p:nvSpPr>
        <p:spPr>
          <a:xfrm rot="0">
            <a:off x="566928" y="2706927"/>
            <a:ext cx="8522208" cy="824640"/>
          </a:xfrm>
          <a:prstGeom prst="rect">
            <a:avLst/>
          </a:prstGeom>
        </p:spPr>
        <p:txBody>
          <a:bodyPr anchor="t" rtlCol="false" tIns="0" lIns="0" bIns="0" rIns="0">
            <a:spAutoFit/>
          </a:bodyPr>
          <a:lstStyle/>
          <a:p>
            <a:pPr algn="l">
              <a:lnSpc>
                <a:spcPts val="3342"/>
              </a:lnSpc>
            </a:pPr>
            <a:r>
              <a:rPr lang="en-US" sz="2387">
                <a:solidFill>
                  <a:srgbClr val="FFFFFF"/>
                </a:solidFill>
                <a:latin typeface="Lexend Deca"/>
                <a:ea typeface="Lexend Deca"/>
                <a:cs typeface="Lexend Deca"/>
                <a:sym typeface="Lexend Deca"/>
              </a:rPr>
              <a:t>Modelo multimodal visión-lenguaje que une comprensión visual bidimensional con generación lógica de texto.</a:t>
            </a:r>
          </a:p>
        </p:txBody>
      </p:sp>
      <p:sp>
        <p:nvSpPr>
          <p:cNvPr name="Freeform 6" id="6"/>
          <p:cNvSpPr/>
          <p:nvPr/>
        </p:nvSpPr>
        <p:spPr>
          <a:xfrm flipH="false" flipV="false" rot="0">
            <a:off x="435429" y="3857625"/>
            <a:ext cx="3265714" cy="4075570"/>
          </a:xfrm>
          <a:custGeom>
            <a:avLst/>
            <a:gdLst/>
            <a:ahLst/>
            <a:cxnLst/>
            <a:rect r="r" b="b" t="t" l="l"/>
            <a:pathLst>
              <a:path h="4075570" w="3265714">
                <a:moveTo>
                  <a:pt x="0" y="0"/>
                </a:moveTo>
                <a:lnTo>
                  <a:pt x="3265714" y="0"/>
                </a:lnTo>
                <a:lnTo>
                  <a:pt x="3265714" y="4075570"/>
                </a:lnTo>
                <a:lnTo>
                  <a:pt x="0" y="4075570"/>
                </a:lnTo>
                <a:lnTo>
                  <a:pt x="0" y="0"/>
                </a:lnTo>
                <a:close/>
              </a:path>
            </a:pathLst>
          </a:custGeom>
          <a:blipFill>
            <a:blip r:embed="rId3"/>
            <a:stretch>
              <a:fillRect l="0" t="0" r="0" b="0"/>
            </a:stretch>
          </a:blipFill>
        </p:spPr>
      </p:sp>
      <p:sp>
        <p:nvSpPr>
          <p:cNvPr name="Freeform 7" id="7"/>
          <p:cNvSpPr/>
          <p:nvPr/>
        </p:nvSpPr>
        <p:spPr>
          <a:xfrm flipH="false" flipV="false" rot="0">
            <a:off x="3483429" y="3857625"/>
            <a:ext cx="217714" cy="4075570"/>
          </a:xfrm>
          <a:custGeom>
            <a:avLst/>
            <a:gdLst/>
            <a:ahLst/>
            <a:cxnLst/>
            <a:rect r="r" b="b" t="t" l="l"/>
            <a:pathLst>
              <a:path h="4075570" w="217714">
                <a:moveTo>
                  <a:pt x="0" y="0"/>
                </a:moveTo>
                <a:lnTo>
                  <a:pt x="217714" y="0"/>
                </a:lnTo>
                <a:lnTo>
                  <a:pt x="217714" y="4075570"/>
                </a:lnTo>
                <a:lnTo>
                  <a:pt x="0" y="4075570"/>
                </a:lnTo>
                <a:lnTo>
                  <a:pt x="0" y="0"/>
                </a:lnTo>
                <a:close/>
              </a:path>
            </a:pathLst>
          </a:custGeom>
          <a:blipFill>
            <a:blip r:embed="rId4"/>
            <a:stretch>
              <a:fillRect l="0" t="0" r="0" b="0"/>
            </a:stretch>
          </a:blipFill>
        </p:spPr>
      </p:sp>
      <p:sp>
        <p:nvSpPr>
          <p:cNvPr name="Freeform 8" id="8"/>
          <p:cNvSpPr/>
          <p:nvPr/>
        </p:nvSpPr>
        <p:spPr>
          <a:xfrm flipH="false" flipV="false" rot="0">
            <a:off x="3701143" y="5568493"/>
            <a:ext cx="870857" cy="435890"/>
          </a:xfrm>
          <a:custGeom>
            <a:avLst/>
            <a:gdLst/>
            <a:ahLst/>
            <a:cxnLst/>
            <a:rect r="r" b="b" t="t" l="l"/>
            <a:pathLst>
              <a:path h="435890" w="870857">
                <a:moveTo>
                  <a:pt x="0" y="0"/>
                </a:moveTo>
                <a:lnTo>
                  <a:pt x="870857" y="0"/>
                </a:lnTo>
                <a:lnTo>
                  <a:pt x="870857" y="435889"/>
                </a:lnTo>
                <a:lnTo>
                  <a:pt x="0" y="435889"/>
                </a:lnTo>
                <a:lnTo>
                  <a:pt x="0" y="0"/>
                </a:lnTo>
                <a:close/>
              </a:path>
            </a:pathLst>
          </a:custGeom>
          <a:blipFill>
            <a:blip r:embed="rId5"/>
            <a:stretch>
              <a:fillRect l="0" t="0" r="0" b="0"/>
            </a:stretch>
          </a:blipFill>
        </p:spPr>
      </p:sp>
      <p:sp>
        <p:nvSpPr>
          <p:cNvPr name="Freeform 9" id="9"/>
          <p:cNvSpPr/>
          <p:nvPr/>
        </p:nvSpPr>
        <p:spPr>
          <a:xfrm flipH="false" flipV="false" rot="0">
            <a:off x="4572000" y="3857625"/>
            <a:ext cx="5007429" cy="1285875"/>
          </a:xfrm>
          <a:custGeom>
            <a:avLst/>
            <a:gdLst/>
            <a:ahLst/>
            <a:cxnLst/>
            <a:rect r="r" b="b" t="t" l="l"/>
            <a:pathLst>
              <a:path h="1285875" w="5007429">
                <a:moveTo>
                  <a:pt x="0" y="0"/>
                </a:moveTo>
                <a:lnTo>
                  <a:pt x="5007429" y="0"/>
                </a:lnTo>
                <a:lnTo>
                  <a:pt x="5007429" y="1285875"/>
                </a:lnTo>
                <a:lnTo>
                  <a:pt x="0" y="1285875"/>
                </a:lnTo>
                <a:lnTo>
                  <a:pt x="0" y="0"/>
                </a:lnTo>
                <a:close/>
              </a:path>
            </a:pathLst>
          </a:custGeom>
          <a:blipFill>
            <a:blip r:embed="rId6"/>
            <a:stretch>
              <a:fillRect l="0" t="0" r="0" b="0"/>
            </a:stretch>
          </a:blipFill>
        </p:spPr>
      </p:sp>
      <p:sp>
        <p:nvSpPr>
          <p:cNvPr name="TextBox 10" id="10"/>
          <p:cNvSpPr txBox="true"/>
          <p:nvPr/>
        </p:nvSpPr>
        <p:spPr>
          <a:xfrm rot="0">
            <a:off x="4937760" y="4210632"/>
            <a:ext cx="1609344" cy="619486"/>
          </a:xfrm>
          <a:prstGeom prst="rect">
            <a:avLst/>
          </a:prstGeom>
        </p:spPr>
        <p:txBody>
          <a:bodyPr anchor="t" rtlCol="false" tIns="0" lIns="0" bIns="0" rIns="0">
            <a:spAutoFit/>
          </a:bodyPr>
          <a:lstStyle/>
          <a:p>
            <a:pPr algn="l">
              <a:lnSpc>
                <a:spcPts val="2447"/>
              </a:lnSpc>
            </a:pPr>
            <a:r>
              <a:rPr lang="en-US" sz="2225">
                <a:solidFill>
                  <a:srgbClr val="F46551"/>
                </a:solidFill>
                <a:latin typeface="Lexend Deca"/>
                <a:ea typeface="Lexend Deca"/>
                <a:cs typeface="Lexend Deca"/>
                <a:sym typeface="Lexend Deca"/>
              </a:rPr>
              <a:t>GEMINI 3 PRO</a:t>
            </a:r>
          </a:p>
        </p:txBody>
      </p:sp>
      <p:sp>
        <p:nvSpPr>
          <p:cNvPr name="TextBox 11" id="11"/>
          <p:cNvSpPr txBox="true"/>
          <p:nvPr/>
        </p:nvSpPr>
        <p:spPr>
          <a:xfrm rot="0">
            <a:off x="7187184" y="4223598"/>
            <a:ext cx="2283387" cy="590550"/>
          </a:xfrm>
          <a:prstGeom prst="rect">
            <a:avLst/>
          </a:prstGeom>
        </p:spPr>
        <p:txBody>
          <a:bodyPr anchor="t" rtlCol="false" tIns="0" lIns="0" bIns="0" rIns="0">
            <a:spAutoFit/>
          </a:bodyPr>
          <a:lstStyle/>
          <a:p>
            <a:pPr algn="l">
              <a:lnSpc>
                <a:spcPts val="2375"/>
              </a:lnSpc>
            </a:pPr>
            <a:r>
              <a:rPr lang="en-US" sz="1979">
                <a:solidFill>
                  <a:srgbClr val="FFFFFF"/>
                </a:solidFill>
                <a:latin typeface="Lexend Deca"/>
                <a:ea typeface="Lexend Deca"/>
                <a:cs typeface="Lexend Deca"/>
                <a:sym typeface="Lexend Deca"/>
              </a:rPr>
              <a:t>análisis y generación</a:t>
            </a:r>
          </a:p>
        </p:txBody>
      </p:sp>
      <p:sp>
        <p:nvSpPr>
          <p:cNvPr name="Freeform 12" id="12"/>
          <p:cNvSpPr/>
          <p:nvPr/>
        </p:nvSpPr>
        <p:spPr>
          <a:xfrm flipH="false" flipV="false" rot="0">
            <a:off x="9361714" y="3857625"/>
            <a:ext cx="217714" cy="1285875"/>
          </a:xfrm>
          <a:custGeom>
            <a:avLst/>
            <a:gdLst/>
            <a:ahLst/>
            <a:cxnLst/>
            <a:rect r="r" b="b" t="t" l="l"/>
            <a:pathLst>
              <a:path h="1285875" w="217714">
                <a:moveTo>
                  <a:pt x="0" y="0"/>
                </a:moveTo>
                <a:lnTo>
                  <a:pt x="217715" y="0"/>
                </a:lnTo>
                <a:lnTo>
                  <a:pt x="217715" y="1285875"/>
                </a:lnTo>
                <a:lnTo>
                  <a:pt x="0" y="1285875"/>
                </a:lnTo>
                <a:lnTo>
                  <a:pt x="0" y="0"/>
                </a:lnTo>
                <a:close/>
              </a:path>
            </a:pathLst>
          </a:custGeom>
          <a:blipFill>
            <a:blip r:embed="rId7"/>
            <a:stretch>
              <a:fillRect l="0" t="0" r="0" b="0"/>
            </a:stretch>
          </a:blipFill>
        </p:spPr>
      </p:sp>
      <p:sp>
        <p:nvSpPr>
          <p:cNvPr name="Freeform 13" id="13"/>
          <p:cNvSpPr/>
          <p:nvPr/>
        </p:nvSpPr>
        <p:spPr>
          <a:xfrm flipH="false" flipV="false" rot="0">
            <a:off x="4572000" y="5143500"/>
            <a:ext cx="5007429" cy="1285875"/>
          </a:xfrm>
          <a:custGeom>
            <a:avLst/>
            <a:gdLst/>
            <a:ahLst/>
            <a:cxnLst/>
            <a:rect r="r" b="b" t="t" l="l"/>
            <a:pathLst>
              <a:path h="1285875" w="5007429">
                <a:moveTo>
                  <a:pt x="0" y="0"/>
                </a:moveTo>
                <a:lnTo>
                  <a:pt x="5007429" y="0"/>
                </a:lnTo>
                <a:lnTo>
                  <a:pt x="5007429" y="1285875"/>
                </a:lnTo>
                <a:lnTo>
                  <a:pt x="0" y="1285875"/>
                </a:lnTo>
                <a:lnTo>
                  <a:pt x="0" y="0"/>
                </a:lnTo>
                <a:close/>
              </a:path>
            </a:pathLst>
          </a:custGeom>
          <a:blipFill>
            <a:blip r:embed="rId8"/>
            <a:stretch>
              <a:fillRect l="0" t="0" r="0" b="0"/>
            </a:stretch>
          </a:blipFill>
        </p:spPr>
      </p:sp>
      <p:sp>
        <p:nvSpPr>
          <p:cNvPr name="TextBox 14" id="14"/>
          <p:cNvSpPr txBox="true"/>
          <p:nvPr/>
        </p:nvSpPr>
        <p:spPr>
          <a:xfrm rot="0">
            <a:off x="4937760" y="5583046"/>
            <a:ext cx="1755648" cy="528703"/>
          </a:xfrm>
          <a:prstGeom prst="rect">
            <a:avLst/>
          </a:prstGeom>
        </p:spPr>
        <p:txBody>
          <a:bodyPr anchor="t" rtlCol="false" tIns="0" lIns="0" bIns="0" rIns="0">
            <a:spAutoFit/>
          </a:bodyPr>
          <a:lstStyle/>
          <a:p>
            <a:pPr algn="l">
              <a:lnSpc>
                <a:spcPts val="2135"/>
              </a:lnSpc>
            </a:pPr>
            <a:r>
              <a:rPr lang="en-US" sz="1941">
                <a:solidFill>
                  <a:srgbClr val="F46551"/>
                </a:solidFill>
                <a:latin typeface="Lexend Deca"/>
                <a:ea typeface="Lexend Deca"/>
                <a:cs typeface="Lexend Deca"/>
                <a:sym typeface="Lexend Deca"/>
              </a:rPr>
              <a:t>MODELOS MÁS LIGEROS</a:t>
            </a:r>
          </a:p>
        </p:txBody>
      </p:sp>
      <p:sp>
        <p:nvSpPr>
          <p:cNvPr name="TextBox 15" id="15"/>
          <p:cNvSpPr txBox="true"/>
          <p:nvPr/>
        </p:nvSpPr>
        <p:spPr>
          <a:xfrm rot="0">
            <a:off x="7187184" y="5541096"/>
            <a:ext cx="1755648" cy="695325"/>
          </a:xfrm>
          <a:prstGeom prst="rect">
            <a:avLst/>
          </a:prstGeom>
        </p:spPr>
        <p:txBody>
          <a:bodyPr anchor="t" rtlCol="false" tIns="0" lIns="0" bIns="0" rIns="0">
            <a:spAutoFit/>
          </a:bodyPr>
          <a:lstStyle/>
          <a:p>
            <a:pPr algn="l">
              <a:lnSpc>
                <a:spcPts val="2735"/>
              </a:lnSpc>
            </a:pPr>
            <a:r>
              <a:rPr lang="en-US" sz="2279">
                <a:solidFill>
                  <a:srgbClr val="FFFFFF"/>
                </a:solidFill>
                <a:latin typeface="Lexend Deca"/>
                <a:ea typeface="Lexend Deca"/>
                <a:cs typeface="Lexend Deca"/>
                <a:sym typeface="Lexend Deca"/>
              </a:rPr>
              <a:t>tareas rutinarias</a:t>
            </a:r>
          </a:p>
        </p:txBody>
      </p:sp>
      <p:sp>
        <p:nvSpPr>
          <p:cNvPr name="Freeform 16" id="16"/>
          <p:cNvSpPr/>
          <p:nvPr/>
        </p:nvSpPr>
        <p:spPr>
          <a:xfrm flipH="false" flipV="false" rot="0">
            <a:off x="9361714" y="5143500"/>
            <a:ext cx="217714" cy="1285875"/>
          </a:xfrm>
          <a:custGeom>
            <a:avLst/>
            <a:gdLst/>
            <a:ahLst/>
            <a:cxnLst/>
            <a:rect r="r" b="b" t="t" l="l"/>
            <a:pathLst>
              <a:path h="1285875" w="217714">
                <a:moveTo>
                  <a:pt x="0" y="0"/>
                </a:moveTo>
                <a:lnTo>
                  <a:pt x="217715" y="0"/>
                </a:lnTo>
                <a:lnTo>
                  <a:pt x="217715" y="1285875"/>
                </a:lnTo>
                <a:lnTo>
                  <a:pt x="0" y="1285875"/>
                </a:lnTo>
                <a:lnTo>
                  <a:pt x="0" y="0"/>
                </a:lnTo>
                <a:close/>
              </a:path>
            </a:pathLst>
          </a:custGeom>
          <a:blipFill>
            <a:blip r:embed="rId9"/>
            <a:stretch>
              <a:fillRect l="0" t="0" r="0" b="0"/>
            </a:stretch>
          </a:blipFill>
        </p:spPr>
      </p:sp>
      <p:sp>
        <p:nvSpPr>
          <p:cNvPr name="Freeform 17" id="17"/>
          <p:cNvSpPr/>
          <p:nvPr/>
        </p:nvSpPr>
        <p:spPr>
          <a:xfrm flipH="false" flipV="false" rot="0">
            <a:off x="4572000" y="6429375"/>
            <a:ext cx="5007429" cy="1503820"/>
          </a:xfrm>
          <a:custGeom>
            <a:avLst/>
            <a:gdLst/>
            <a:ahLst/>
            <a:cxnLst/>
            <a:rect r="r" b="b" t="t" l="l"/>
            <a:pathLst>
              <a:path h="1503820" w="5007429">
                <a:moveTo>
                  <a:pt x="0" y="0"/>
                </a:moveTo>
                <a:lnTo>
                  <a:pt x="5007429" y="0"/>
                </a:lnTo>
                <a:lnTo>
                  <a:pt x="5007429" y="1503820"/>
                </a:lnTo>
                <a:lnTo>
                  <a:pt x="0" y="1503820"/>
                </a:lnTo>
                <a:lnTo>
                  <a:pt x="0" y="0"/>
                </a:lnTo>
                <a:close/>
              </a:path>
            </a:pathLst>
          </a:custGeom>
          <a:blipFill>
            <a:blip r:embed="rId10"/>
            <a:stretch>
              <a:fillRect l="0" t="0" r="0" b="0"/>
            </a:stretch>
          </a:blipFill>
        </p:spPr>
      </p:sp>
      <p:sp>
        <p:nvSpPr>
          <p:cNvPr name="TextBox 18" id="18"/>
          <p:cNvSpPr txBox="true"/>
          <p:nvPr/>
        </p:nvSpPr>
        <p:spPr>
          <a:xfrm rot="0">
            <a:off x="4937760" y="6921482"/>
            <a:ext cx="1865376" cy="505878"/>
          </a:xfrm>
          <a:prstGeom prst="rect">
            <a:avLst/>
          </a:prstGeom>
        </p:spPr>
        <p:txBody>
          <a:bodyPr anchor="t" rtlCol="false" tIns="0" lIns="0" bIns="0" rIns="0">
            <a:spAutoFit/>
          </a:bodyPr>
          <a:lstStyle/>
          <a:p>
            <a:pPr algn="l">
              <a:lnSpc>
                <a:spcPts val="2046"/>
              </a:lnSpc>
            </a:pPr>
            <a:r>
              <a:rPr lang="en-US" sz="1860">
                <a:solidFill>
                  <a:srgbClr val="F46551"/>
                </a:solidFill>
                <a:latin typeface="Lexend Deca"/>
                <a:ea typeface="Lexend Deca"/>
                <a:cs typeface="Lexend Deca"/>
                <a:sym typeface="Lexend Deca"/>
              </a:rPr>
              <a:t>DISTRIBUCIÓN DINÁMICA</a:t>
            </a:r>
          </a:p>
        </p:txBody>
      </p:sp>
      <p:sp>
        <p:nvSpPr>
          <p:cNvPr name="TextBox 19" id="19"/>
          <p:cNvSpPr txBox="true"/>
          <p:nvPr/>
        </p:nvSpPr>
        <p:spPr>
          <a:xfrm rot="0">
            <a:off x="7187184" y="6834055"/>
            <a:ext cx="2011680" cy="610246"/>
          </a:xfrm>
          <a:prstGeom prst="rect">
            <a:avLst/>
          </a:prstGeom>
        </p:spPr>
        <p:txBody>
          <a:bodyPr anchor="t" rtlCol="false" tIns="0" lIns="0" bIns="0" rIns="0">
            <a:spAutoFit/>
          </a:bodyPr>
          <a:lstStyle/>
          <a:p>
            <a:pPr algn="l">
              <a:lnSpc>
                <a:spcPts val="2475"/>
              </a:lnSpc>
            </a:pPr>
            <a:r>
              <a:rPr lang="en-US" sz="2063">
                <a:solidFill>
                  <a:srgbClr val="FFFFFF"/>
                </a:solidFill>
                <a:latin typeface="Lexend Deca"/>
                <a:ea typeface="Lexend Deca"/>
                <a:cs typeface="Lexend Deca"/>
                <a:sym typeface="Lexend Deca"/>
              </a:rPr>
              <a:t>alternancia según la tarea</a:t>
            </a:r>
          </a:p>
        </p:txBody>
      </p:sp>
      <p:sp>
        <p:nvSpPr>
          <p:cNvPr name="Freeform 20" id="20"/>
          <p:cNvSpPr/>
          <p:nvPr/>
        </p:nvSpPr>
        <p:spPr>
          <a:xfrm flipH="false" flipV="false" rot="0">
            <a:off x="9361714" y="6429375"/>
            <a:ext cx="217714" cy="1503820"/>
          </a:xfrm>
          <a:custGeom>
            <a:avLst/>
            <a:gdLst/>
            <a:ahLst/>
            <a:cxnLst/>
            <a:rect r="r" b="b" t="t" l="l"/>
            <a:pathLst>
              <a:path h="1503820" w="217714">
                <a:moveTo>
                  <a:pt x="0" y="0"/>
                </a:moveTo>
                <a:lnTo>
                  <a:pt x="217715" y="0"/>
                </a:lnTo>
                <a:lnTo>
                  <a:pt x="217715" y="1503820"/>
                </a:lnTo>
                <a:lnTo>
                  <a:pt x="0" y="1503820"/>
                </a:lnTo>
                <a:lnTo>
                  <a:pt x="0" y="0"/>
                </a:lnTo>
                <a:close/>
              </a:path>
            </a:pathLst>
          </a:custGeom>
          <a:blipFill>
            <a:blip r:embed="rId11"/>
            <a:stretch>
              <a:fillRect l="0" t="0" r="0" b="0"/>
            </a:stretch>
          </a:blipFill>
        </p:spPr>
      </p:sp>
      <p:sp>
        <p:nvSpPr>
          <p:cNvPr name="Freeform 21" id="21"/>
          <p:cNvSpPr/>
          <p:nvPr/>
        </p:nvSpPr>
        <p:spPr>
          <a:xfrm flipH="false" flipV="false" rot="0">
            <a:off x="10450286" y="2571750"/>
            <a:ext cx="7837714" cy="6429375"/>
          </a:xfrm>
          <a:custGeom>
            <a:avLst/>
            <a:gdLst/>
            <a:ahLst/>
            <a:cxnLst/>
            <a:rect r="r" b="b" t="t" l="l"/>
            <a:pathLst>
              <a:path h="6429375" w="7837714">
                <a:moveTo>
                  <a:pt x="0" y="0"/>
                </a:moveTo>
                <a:lnTo>
                  <a:pt x="7837714" y="0"/>
                </a:lnTo>
                <a:lnTo>
                  <a:pt x="7837714" y="6429375"/>
                </a:lnTo>
                <a:lnTo>
                  <a:pt x="0" y="6429375"/>
                </a:lnTo>
                <a:lnTo>
                  <a:pt x="0" y="0"/>
                </a:lnTo>
                <a:close/>
              </a:path>
            </a:pathLst>
          </a:custGeom>
          <a:blipFill>
            <a:blip r:embed="rId12"/>
            <a:stretch>
              <a:fillRect l="0" t="0" r="0" b="0"/>
            </a:stretch>
          </a:blipFill>
        </p:spPr>
      </p:sp>
      <p:sp>
        <p:nvSpPr>
          <p:cNvPr name="TextBox 22" id="22"/>
          <p:cNvSpPr txBox="true"/>
          <p:nvPr/>
        </p:nvSpPr>
        <p:spPr>
          <a:xfrm rot="0">
            <a:off x="566928" y="8579096"/>
            <a:ext cx="6547104" cy="1111519"/>
          </a:xfrm>
          <a:prstGeom prst="rect">
            <a:avLst/>
          </a:prstGeom>
        </p:spPr>
        <p:txBody>
          <a:bodyPr anchor="t" rtlCol="false" tIns="0" lIns="0" bIns="0" rIns="0">
            <a:spAutoFit/>
          </a:bodyPr>
          <a:lstStyle/>
          <a:p>
            <a:pPr algn="l">
              <a:lnSpc>
                <a:spcPts val="4420"/>
              </a:lnSpc>
            </a:pPr>
            <a:r>
              <a:rPr lang="en-US" sz="3683" spc="-110">
                <a:solidFill>
                  <a:srgbClr val="F46551"/>
                </a:solidFill>
                <a:latin typeface="Lexend Deca"/>
                <a:ea typeface="Lexend Deca"/>
                <a:cs typeface="Lexend Deca"/>
                <a:sym typeface="Lexend Deca"/>
              </a:rPr>
              <a:t>OBJETIVO:</a:t>
            </a:r>
            <a:r>
              <a:rPr lang="en-US" sz="3683" spc="-110">
                <a:solidFill>
                  <a:srgbClr val="FFFFFF"/>
                </a:solidFill>
                <a:latin typeface="Lexend Deca"/>
                <a:ea typeface="Lexend Deca"/>
                <a:cs typeface="Lexend Deca"/>
                <a:sym typeface="Lexend Deca"/>
              </a:rPr>
              <a:t> optimizar costos y velocidad de procesamiento.</a:t>
            </a:r>
          </a:p>
        </p:txBody>
      </p:sp>
      <p:sp>
        <p:nvSpPr>
          <p:cNvPr name="TextBox 23" id="23"/>
          <p:cNvSpPr txBox="true"/>
          <p:nvPr/>
        </p:nvSpPr>
        <p:spPr>
          <a:xfrm rot="0">
            <a:off x="1060704" y="5166492"/>
            <a:ext cx="2011680" cy="685154"/>
          </a:xfrm>
          <a:prstGeom prst="rect">
            <a:avLst/>
          </a:prstGeom>
        </p:spPr>
        <p:txBody>
          <a:bodyPr anchor="t" rtlCol="false" tIns="0" lIns="0" bIns="0" rIns="0">
            <a:spAutoFit/>
          </a:bodyPr>
          <a:lstStyle/>
          <a:p>
            <a:pPr algn="ctr">
              <a:lnSpc>
                <a:spcPts val="2718"/>
              </a:lnSpc>
            </a:pPr>
            <a:r>
              <a:rPr lang="en-US" sz="2265">
                <a:solidFill>
                  <a:srgbClr val="FFFFFF"/>
                </a:solidFill>
                <a:latin typeface="Lexend Deca"/>
                <a:ea typeface="Lexend Deca"/>
                <a:cs typeface="Lexend Deca"/>
                <a:sym typeface="Lexend Deca"/>
              </a:rPr>
              <a:t>SISTEMA MULTIMODAL</a:t>
            </a:r>
          </a:p>
        </p:txBody>
      </p:sp>
      <p:sp>
        <p:nvSpPr>
          <p:cNvPr name="TextBox 24" id="24"/>
          <p:cNvSpPr txBox="true"/>
          <p:nvPr/>
        </p:nvSpPr>
        <p:spPr>
          <a:xfrm rot="0">
            <a:off x="841248" y="5921735"/>
            <a:ext cx="2523744" cy="318050"/>
          </a:xfrm>
          <a:prstGeom prst="rect">
            <a:avLst/>
          </a:prstGeom>
        </p:spPr>
        <p:txBody>
          <a:bodyPr anchor="t" rtlCol="false" tIns="0" lIns="0" bIns="0" rIns="0">
            <a:spAutoFit/>
          </a:bodyPr>
          <a:lstStyle/>
          <a:p>
            <a:pPr algn="ctr">
              <a:lnSpc>
                <a:spcPts val="2661"/>
              </a:lnSpc>
            </a:pPr>
            <a:r>
              <a:rPr lang="en-US" sz="1901">
                <a:solidFill>
                  <a:srgbClr val="FFFFFF"/>
                </a:solidFill>
                <a:latin typeface="Lexend Deca"/>
                <a:ea typeface="Lexend Deca"/>
                <a:cs typeface="Lexend Deca"/>
                <a:sym typeface="Lexend Deca"/>
              </a:rPr>
              <a:t>(VISIÓN-LENGUAJE)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32571" y="2353805"/>
            <a:ext cx="2177143" cy="7083210"/>
          </a:xfrm>
          <a:custGeom>
            <a:avLst/>
            <a:gdLst/>
            <a:ahLst/>
            <a:cxnLst/>
            <a:rect r="r" b="b" t="t" l="l"/>
            <a:pathLst>
              <a:path h="7083210" w="2177143">
                <a:moveTo>
                  <a:pt x="0" y="0"/>
                </a:moveTo>
                <a:lnTo>
                  <a:pt x="2177143" y="0"/>
                </a:lnTo>
                <a:lnTo>
                  <a:pt x="2177143" y="7083210"/>
                </a:lnTo>
                <a:lnTo>
                  <a:pt x="0" y="7083210"/>
                </a:lnTo>
                <a:lnTo>
                  <a:pt x="0" y="0"/>
                </a:lnTo>
                <a:close/>
              </a:path>
            </a:pathLst>
          </a:custGeom>
          <a:blipFill>
            <a:blip r:embed="rId3"/>
            <a:stretch>
              <a:fillRect l="0" t="0" r="0" b="0"/>
            </a:stretch>
          </a:blipFill>
        </p:spPr>
      </p:sp>
      <p:sp>
        <p:nvSpPr>
          <p:cNvPr name="Freeform 4" id="4"/>
          <p:cNvSpPr/>
          <p:nvPr/>
        </p:nvSpPr>
        <p:spPr>
          <a:xfrm flipH="false" flipV="false" rot="0">
            <a:off x="10232571" y="0"/>
            <a:ext cx="8055429" cy="10287000"/>
          </a:xfrm>
          <a:custGeom>
            <a:avLst/>
            <a:gdLst/>
            <a:ahLst/>
            <a:cxnLst/>
            <a:rect r="r" b="b" t="t" l="l"/>
            <a:pathLst>
              <a:path h="10287000" w="8055429">
                <a:moveTo>
                  <a:pt x="0" y="0"/>
                </a:moveTo>
                <a:lnTo>
                  <a:pt x="8055429" y="0"/>
                </a:lnTo>
                <a:lnTo>
                  <a:pt x="8055429" y="10287000"/>
                </a:lnTo>
                <a:lnTo>
                  <a:pt x="0" y="10287000"/>
                </a:lnTo>
                <a:lnTo>
                  <a:pt x="0" y="0"/>
                </a:lnTo>
                <a:close/>
              </a:path>
            </a:pathLst>
          </a:custGeom>
          <a:blipFill>
            <a:blip r:embed="rId4"/>
            <a:stretch>
              <a:fillRect l="0" t="0" r="0" b="0"/>
            </a:stretch>
          </a:blipFill>
        </p:spPr>
      </p:sp>
      <p:sp>
        <p:nvSpPr>
          <p:cNvPr name="TextBox 5" id="5"/>
          <p:cNvSpPr txBox="true"/>
          <p:nvPr/>
        </p:nvSpPr>
        <p:spPr>
          <a:xfrm rot="0">
            <a:off x="658368" y="636887"/>
            <a:ext cx="10607040" cy="1815831"/>
          </a:xfrm>
          <a:prstGeom prst="rect">
            <a:avLst/>
          </a:prstGeom>
        </p:spPr>
        <p:txBody>
          <a:bodyPr anchor="t" rtlCol="false" tIns="0" lIns="0" bIns="0" rIns="0">
            <a:spAutoFit/>
          </a:bodyPr>
          <a:lstStyle/>
          <a:p>
            <a:pPr algn="l">
              <a:lnSpc>
                <a:spcPts val="6989"/>
              </a:lnSpc>
            </a:pPr>
            <a:r>
              <a:rPr lang="en-US" sz="6989" spc="-139">
                <a:solidFill>
                  <a:srgbClr val="FFFFFF"/>
                </a:solidFill>
                <a:latin typeface="Lexend Deca"/>
                <a:ea typeface="Lexend Deca"/>
                <a:cs typeface="Lexend Deca"/>
                <a:sym typeface="Lexend Deca"/>
              </a:rPr>
              <a:t>FUNCIÓN DEL MODELO GENERATIVO </a:t>
            </a:r>
            <a:r>
              <a:rPr lang="en-US" sz="6989" spc="-139">
                <a:solidFill>
                  <a:srgbClr val="F4534B"/>
                </a:solidFill>
                <a:latin typeface="Lexend Deca"/>
                <a:ea typeface="Lexend Deca"/>
                <a:cs typeface="Lexend Deca"/>
                <a:sym typeface="Lexend Deca"/>
              </a:rPr>
              <a:t>(LLM)</a:t>
            </a:r>
          </a:p>
        </p:txBody>
      </p:sp>
      <p:sp>
        <p:nvSpPr>
          <p:cNvPr name="TextBox 6" id="6"/>
          <p:cNvSpPr txBox="true"/>
          <p:nvPr/>
        </p:nvSpPr>
        <p:spPr>
          <a:xfrm rot="0">
            <a:off x="658368" y="2840126"/>
            <a:ext cx="6528816" cy="876378"/>
          </a:xfrm>
          <a:prstGeom prst="rect">
            <a:avLst/>
          </a:prstGeom>
        </p:spPr>
        <p:txBody>
          <a:bodyPr anchor="t" rtlCol="false" tIns="0" lIns="0" bIns="0" rIns="0">
            <a:spAutoFit/>
          </a:bodyPr>
          <a:lstStyle/>
          <a:p>
            <a:pPr algn="l">
              <a:lnSpc>
                <a:spcPts val="3569"/>
              </a:lnSpc>
            </a:pPr>
            <a:r>
              <a:rPr lang="en-US" sz="2549">
                <a:solidFill>
                  <a:srgbClr val="FFFFFF"/>
                </a:solidFill>
                <a:latin typeface="Lexend Deca"/>
                <a:ea typeface="Lexend Deca"/>
                <a:cs typeface="Lexend Deca"/>
                <a:sym typeface="Lexend Deca"/>
              </a:rPr>
              <a:t>El motor central que razona, interpreta y convierte lo visual en lenguaje natural.</a:t>
            </a:r>
          </a:p>
        </p:txBody>
      </p:sp>
      <p:sp>
        <p:nvSpPr>
          <p:cNvPr name="Freeform 7" id="7"/>
          <p:cNvSpPr/>
          <p:nvPr/>
        </p:nvSpPr>
        <p:spPr>
          <a:xfrm flipH="false" flipV="false" rot="0">
            <a:off x="653143" y="4282618"/>
            <a:ext cx="1306286" cy="1296772"/>
          </a:xfrm>
          <a:custGeom>
            <a:avLst/>
            <a:gdLst/>
            <a:ahLst/>
            <a:cxnLst/>
            <a:rect r="r" b="b" t="t" l="l"/>
            <a:pathLst>
              <a:path h="1296772" w="1306286">
                <a:moveTo>
                  <a:pt x="0" y="0"/>
                </a:moveTo>
                <a:lnTo>
                  <a:pt x="1306286" y="0"/>
                </a:lnTo>
                <a:lnTo>
                  <a:pt x="1306286" y="1296772"/>
                </a:lnTo>
                <a:lnTo>
                  <a:pt x="0" y="1296772"/>
                </a:lnTo>
                <a:lnTo>
                  <a:pt x="0" y="0"/>
                </a:lnTo>
                <a:close/>
              </a:path>
            </a:pathLst>
          </a:custGeom>
          <a:blipFill>
            <a:blip r:embed="rId5"/>
            <a:stretch>
              <a:fillRect l="0" t="0" r="0" b="0"/>
            </a:stretch>
          </a:blipFill>
        </p:spPr>
      </p:sp>
      <p:sp>
        <p:nvSpPr>
          <p:cNvPr name="TextBox 8" id="8"/>
          <p:cNvSpPr txBox="true"/>
          <p:nvPr/>
        </p:nvSpPr>
        <p:spPr>
          <a:xfrm rot="0">
            <a:off x="1060704" y="4570566"/>
            <a:ext cx="365760" cy="858213"/>
          </a:xfrm>
          <a:prstGeom prst="rect">
            <a:avLst/>
          </a:prstGeom>
        </p:spPr>
        <p:txBody>
          <a:bodyPr anchor="t" rtlCol="false" tIns="0" lIns="0" bIns="0" rIns="0">
            <a:spAutoFit/>
          </a:bodyPr>
          <a:lstStyle/>
          <a:p>
            <a:pPr algn="ctr">
              <a:lnSpc>
                <a:spcPts val="6479"/>
              </a:lnSpc>
            </a:pPr>
            <a:r>
              <a:rPr lang="en-US" sz="6479" spc="-129">
                <a:solidFill>
                  <a:srgbClr val="F4534B"/>
                </a:solidFill>
                <a:latin typeface="Lexend Deca"/>
                <a:ea typeface="Lexend Deca"/>
                <a:cs typeface="Lexend Deca"/>
                <a:sym typeface="Lexend Deca"/>
              </a:rPr>
              <a:t>1</a:t>
            </a:r>
          </a:p>
        </p:txBody>
      </p:sp>
      <p:sp>
        <p:nvSpPr>
          <p:cNvPr name="Freeform 9" id="9"/>
          <p:cNvSpPr/>
          <p:nvPr/>
        </p:nvSpPr>
        <p:spPr>
          <a:xfrm flipH="false" flipV="false" rot="0">
            <a:off x="1088571" y="5350548"/>
            <a:ext cx="217714" cy="1078827"/>
          </a:xfrm>
          <a:custGeom>
            <a:avLst/>
            <a:gdLst/>
            <a:ahLst/>
            <a:cxnLst/>
            <a:rect r="r" b="b" t="t" l="l"/>
            <a:pathLst>
              <a:path h="1078827" w="217714">
                <a:moveTo>
                  <a:pt x="0" y="0"/>
                </a:moveTo>
                <a:lnTo>
                  <a:pt x="217715" y="0"/>
                </a:lnTo>
                <a:lnTo>
                  <a:pt x="217715" y="1078827"/>
                </a:lnTo>
                <a:lnTo>
                  <a:pt x="0" y="1078827"/>
                </a:lnTo>
                <a:lnTo>
                  <a:pt x="0" y="0"/>
                </a:lnTo>
                <a:close/>
              </a:path>
            </a:pathLst>
          </a:custGeom>
          <a:blipFill>
            <a:blip r:embed="rId6"/>
            <a:stretch>
              <a:fillRect l="0" t="0" r="0" b="0"/>
            </a:stretch>
          </a:blipFill>
        </p:spPr>
      </p:sp>
      <p:sp>
        <p:nvSpPr>
          <p:cNvPr name="Freeform 10" id="10"/>
          <p:cNvSpPr/>
          <p:nvPr/>
        </p:nvSpPr>
        <p:spPr>
          <a:xfrm flipH="false" flipV="false" rot="0">
            <a:off x="653143" y="6211430"/>
            <a:ext cx="1306286" cy="1296772"/>
          </a:xfrm>
          <a:custGeom>
            <a:avLst/>
            <a:gdLst/>
            <a:ahLst/>
            <a:cxnLst/>
            <a:rect r="r" b="b" t="t" l="l"/>
            <a:pathLst>
              <a:path h="1296772" w="1306286">
                <a:moveTo>
                  <a:pt x="0" y="0"/>
                </a:moveTo>
                <a:lnTo>
                  <a:pt x="1306286" y="0"/>
                </a:lnTo>
                <a:lnTo>
                  <a:pt x="1306286" y="1296772"/>
                </a:lnTo>
                <a:lnTo>
                  <a:pt x="0" y="1296772"/>
                </a:lnTo>
                <a:lnTo>
                  <a:pt x="0" y="0"/>
                </a:lnTo>
                <a:close/>
              </a:path>
            </a:pathLst>
          </a:custGeom>
          <a:blipFill>
            <a:blip r:embed="rId7"/>
            <a:stretch>
              <a:fillRect l="0" t="0" r="0" b="0"/>
            </a:stretch>
          </a:blipFill>
        </p:spPr>
      </p:sp>
      <p:sp>
        <p:nvSpPr>
          <p:cNvPr name="TextBox 11" id="11"/>
          <p:cNvSpPr txBox="true"/>
          <p:nvPr/>
        </p:nvSpPr>
        <p:spPr>
          <a:xfrm rot="0">
            <a:off x="1005840" y="6514809"/>
            <a:ext cx="475488" cy="858213"/>
          </a:xfrm>
          <a:prstGeom prst="rect">
            <a:avLst/>
          </a:prstGeom>
        </p:spPr>
        <p:txBody>
          <a:bodyPr anchor="t" rtlCol="false" tIns="0" lIns="0" bIns="0" rIns="0">
            <a:spAutoFit/>
          </a:bodyPr>
          <a:lstStyle/>
          <a:p>
            <a:pPr algn="ctr">
              <a:lnSpc>
                <a:spcPts val="6479"/>
              </a:lnSpc>
            </a:pPr>
            <a:r>
              <a:rPr lang="en-US" sz="6479" spc="-129">
                <a:solidFill>
                  <a:srgbClr val="F4534B"/>
                </a:solidFill>
                <a:latin typeface="Lexend Deca"/>
                <a:ea typeface="Lexend Deca"/>
                <a:cs typeface="Lexend Deca"/>
                <a:sym typeface="Lexend Deca"/>
              </a:rPr>
              <a:t>2</a:t>
            </a:r>
          </a:p>
        </p:txBody>
      </p:sp>
      <p:sp>
        <p:nvSpPr>
          <p:cNvPr name="Freeform 12" id="12"/>
          <p:cNvSpPr/>
          <p:nvPr/>
        </p:nvSpPr>
        <p:spPr>
          <a:xfrm flipH="false" flipV="false" rot="0">
            <a:off x="1088571" y="7279360"/>
            <a:ext cx="217714" cy="1078827"/>
          </a:xfrm>
          <a:custGeom>
            <a:avLst/>
            <a:gdLst/>
            <a:ahLst/>
            <a:cxnLst/>
            <a:rect r="r" b="b" t="t" l="l"/>
            <a:pathLst>
              <a:path h="1078827" w="217714">
                <a:moveTo>
                  <a:pt x="0" y="0"/>
                </a:moveTo>
                <a:lnTo>
                  <a:pt x="217715" y="0"/>
                </a:lnTo>
                <a:lnTo>
                  <a:pt x="217715" y="1078828"/>
                </a:lnTo>
                <a:lnTo>
                  <a:pt x="0" y="1078828"/>
                </a:lnTo>
                <a:lnTo>
                  <a:pt x="0" y="0"/>
                </a:lnTo>
                <a:close/>
              </a:path>
            </a:pathLst>
          </a:custGeom>
          <a:blipFill>
            <a:blip r:embed="rId8"/>
            <a:stretch>
              <a:fillRect l="0" t="0" r="0" b="0"/>
            </a:stretch>
          </a:blipFill>
        </p:spPr>
      </p:sp>
      <p:sp>
        <p:nvSpPr>
          <p:cNvPr name="Freeform 13" id="13"/>
          <p:cNvSpPr/>
          <p:nvPr/>
        </p:nvSpPr>
        <p:spPr>
          <a:xfrm flipH="false" flipV="false" rot="0">
            <a:off x="653143" y="7922298"/>
            <a:ext cx="1306286" cy="1514717"/>
          </a:xfrm>
          <a:custGeom>
            <a:avLst/>
            <a:gdLst/>
            <a:ahLst/>
            <a:cxnLst/>
            <a:rect r="r" b="b" t="t" l="l"/>
            <a:pathLst>
              <a:path h="1514717" w="1306286">
                <a:moveTo>
                  <a:pt x="0" y="0"/>
                </a:moveTo>
                <a:lnTo>
                  <a:pt x="1306286" y="0"/>
                </a:lnTo>
                <a:lnTo>
                  <a:pt x="1306286" y="1514717"/>
                </a:lnTo>
                <a:lnTo>
                  <a:pt x="0" y="1514717"/>
                </a:lnTo>
                <a:lnTo>
                  <a:pt x="0" y="0"/>
                </a:lnTo>
                <a:close/>
              </a:path>
            </a:pathLst>
          </a:custGeom>
          <a:blipFill>
            <a:blip r:embed="rId9"/>
            <a:stretch>
              <a:fillRect l="0" t="0" r="0" b="0"/>
            </a:stretch>
          </a:blipFill>
        </p:spPr>
      </p:sp>
      <p:sp>
        <p:nvSpPr>
          <p:cNvPr name="TextBox 14" id="14"/>
          <p:cNvSpPr txBox="true"/>
          <p:nvPr/>
        </p:nvSpPr>
        <p:spPr>
          <a:xfrm rot="0">
            <a:off x="1005840" y="8397330"/>
            <a:ext cx="493776" cy="858213"/>
          </a:xfrm>
          <a:prstGeom prst="rect">
            <a:avLst/>
          </a:prstGeom>
        </p:spPr>
        <p:txBody>
          <a:bodyPr anchor="t" rtlCol="false" tIns="0" lIns="0" bIns="0" rIns="0">
            <a:spAutoFit/>
          </a:bodyPr>
          <a:lstStyle/>
          <a:p>
            <a:pPr algn="ctr">
              <a:lnSpc>
                <a:spcPts val="6479"/>
              </a:lnSpc>
            </a:pPr>
            <a:r>
              <a:rPr lang="en-US" sz="6479" spc="-129">
                <a:solidFill>
                  <a:srgbClr val="F4534B"/>
                </a:solidFill>
                <a:latin typeface="Lexend Deca"/>
                <a:ea typeface="Lexend Deca"/>
                <a:cs typeface="Lexend Deca"/>
                <a:sym typeface="Lexend Deca"/>
              </a:rPr>
              <a:t>3</a:t>
            </a:r>
          </a:p>
        </p:txBody>
      </p:sp>
      <p:sp>
        <p:nvSpPr>
          <p:cNvPr name="TextBox 15" id="15"/>
          <p:cNvSpPr txBox="true"/>
          <p:nvPr/>
        </p:nvSpPr>
        <p:spPr>
          <a:xfrm rot="0">
            <a:off x="2267712" y="4458926"/>
            <a:ext cx="6949440" cy="316827"/>
          </a:xfrm>
          <a:prstGeom prst="rect">
            <a:avLst/>
          </a:prstGeom>
        </p:spPr>
        <p:txBody>
          <a:bodyPr anchor="t" rtlCol="false" tIns="0" lIns="0" bIns="0" rIns="0">
            <a:spAutoFit/>
          </a:bodyPr>
          <a:lstStyle/>
          <a:p>
            <a:pPr algn="l">
              <a:lnSpc>
                <a:spcPts val="2387"/>
              </a:lnSpc>
            </a:pPr>
            <a:r>
              <a:rPr lang="en-US" sz="2387" spc="-47">
                <a:solidFill>
                  <a:srgbClr val="F4534B"/>
                </a:solidFill>
                <a:latin typeface="Lexend Deca"/>
                <a:ea typeface="Lexend Deca"/>
                <a:cs typeface="Lexend Deca"/>
                <a:sym typeface="Lexend Deca"/>
              </a:rPr>
              <a:t>EXTRACCIÓN DE CARACTERÍSTICAS VISUALES</a:t>
            </a:r>
          </a:p>
        </p:txBody>
      </p:sp>
      <p:sp>
        <p:nvSpPr>
          <p:cNvPr name="TextBox 16" id="16"/>
          <p:cNvSpPr txBox="true"/>
          <p:nvPr/>
        </p:nvSpPr>
        <p:spPr>
          <a:xfrm rot="0">
            <a:off x="2267712" y="4855728"/>
            <a:ext cx="7223760" cy="795380"/>
          </a:xfrm>
          <a:prstGeom prst="rect">
            <a:avLst/>
          </a:prstGeom>
        </p:spPr>
        <p:txBody>
          <a:bodyPr anchor="t" rtlCol="false" tIns="0" lIns="0" bIns="0" rIns="0">
            <a:spAutoFit/>
          </a:bodyPr>
          <a:lstStyle/>
          <a:p>
            <a:pPr algn="l">
              <a:lnSpc>
                <a:spcPts val="3228"/>
              </a:lnSpc>
            </a:pPr>
            <a:r>
              <a:rPr lang="en-US" sz="2306">
                <a:solidFill>
                  <a:srgbClr val="FFFFFF"/>
                </a:solidFill>
                <a:latin typeface="Lexend Deca"/>
                <a:ea typeface="Lexend Deca"/>
                <a:cs typeface="Lexend Deca"/>
                <a:sym typeface="Lexend Deca"/>
              </a:rPr>
              <a:t>Identifica objetos, personas, colores, texto incrustado y relaciones espaciales.</a:t>
            </a:r>
          </a:p>
        </p:txBody>
      </p:sp>
      <p:sp>
        <p:nvSpPr>
          <p:cNvPr name="TextBox 17" id="17"/>
          <p:cNvSpPr txBox="true"/>
          <p:nvPr/>
        </p:nvSpPr>
        <p:spPr>
          <a:xfrm rot="0">
            <a:off x="2267712" y="6310586"/>
            <a:ext cx="5577840" cy="316827"/>
          </a:xfrm>
          <a:prstGeom prst="rect">
            <a:avLst/>
          </a:prstGeom>
        </p:spPr>
        <p:txBody>
          <a:bodyPr anchor="t" rtlCol="false" tIns="0" lIns="0" bIns="0" rIns="0">
            <a:spAutoFit/>
          </a:bodyPr>
          <a:lstStyle/>
          <a:p>
            <a:pPr algn="l">
              <a:lnSpc>
                <a:spcPts val="2387"/>
              </a:lnSpc>
            </a:pPr>
            <a:r>
              <a:rPr lang="en-US" sz="2387" spc="-47">
                <a:solidFill>
                  <a:srgbClr val="F4534B"/>
                </a:solidFill>
                <a:latin typeface="Lexend Deca"/>
                <a:ea typeface="Lexend Deca"/>
                <a:cs typeface="Lexend Deca"/>
                <a:sym typeface="Lexend Deca"/>
              </a:rPr>
              <a:t>ANÁLISIS DE CONTEXTO SEMÁNTICO</a:t>
            </a:r>
          </a:p>
        </p:txBody>
      </p:sp>
      <p:sp>
        <p:nvSpPr>
          <p:cNvPr name="TextBox 18" id="18"/>
          <p:cNvSpPr txBox="true"/>
          <p:nvPr/>
        </p:nvSpPr>
        <p:spPr>
          <a:xfrm rot="0">
            <a:off x="2267712" y="6727638"/>
            <a:ext cx="7059168" cy="754882"/>
          </a:xfrm>
          <a:prstGeom prst="rect">
            <a:avLst/>
          </a:prstGeom>
        </p:spPr>
        <p:txBody>
          <a:bodyPr anchor="t" rtlCol="false" tIns="0" lIns="0" bIns="0" rIns="0">
            <a:spAutoFit/>
          </a:bodyPr>
          <a:lstStyle/>
          <a:p>
            <a:pPr algn="l">
              <a:lnSpc>
                <a:spcPts val="3058"/>
              </a:lnSpc>
            </a:pPr>
            <a:r>
              <a:rPr lang="en-US" sz="2184">
                <a:solidFill>
                  <a:srgbClr val="FFFFFF"/>
                </a:solidFill>
                <a:latin typeface="Lexend Deca"/>
                <a:ea typeface="Lexend Deca"/>
                <a:cs typeface="Lexend Deca"/>
                <a:sym typeface="Lexend Deca"/>
              </a:rPr>
              <a:t>Comprende la historia o acción de la escena, distingue acciones, intenciones y estados de ánimo.</a:t>
            </a:r>
          </a:p>
        </p:txBody>
      </p:sp>
      <p:sp>
        <p:nvSpPr>
          <p:cNvPr name="TextBox 19" id="19"/>
          <p:cNvSpPr txBox="true"/>
          <p:nvPr/>
        </p:nvSpPr>
        <p:spPr>
          <a:xfrm rot="0">
            <a:off x="2267712" y="8244542"/>
            <a:ext cx="7717536" cy="316827"/>
          </a:xfrm>
          <a:prstGeom prst="rect">
            <a:avLst/>
          </a:prstGeom>
        </p:spPr>
        <p:txBody>
          <a:bodyPr anchor="t" rtlCol="false" tIns="0" lIns="0" bIns="0" rIns="0">
            <a:spAutoFit/>
          </a:bodyPr>
          <a:lstStyle/>
          <a:p>
            <a:pPr algn="l">
              <a:lnSpc>
                <a:spcPts val="2387"/>
              </a:lnSpc>
            </a:pPr>
            <a:r>
              <a:rPr lang="en-US" sz="2387" spc="-47">
                <a:solidFill>
                  <a:srgbClr val="F4534B"/>
                </a:solidFill>
                <a:latin typeface="Lexend Deca"/>
                <a:ea typeface="Lexend Deca"/>
                <a:cs typeface="Lexend Deca"/>
                <a:sym typeface="Lexend Deca"/>
              </a:rPr>
              <a:t>GENERACIÓN DE LENGUAJE NATURAL ADAPTATIVO</a:t>
            </a:r>
          </a:p>
        </p:txBody>
      </p:sp>
      <p:sp>
        <p:nvSpPr>
          <p:cNvPr name="TextBox 20" id="20"/>
          <p:cNvSpPr txBox="true"/>
          <p:nvPr/>
        </p:nvSpPr>
        <p:spPr>
          <a:xfrm rot="0">
            <a:off x="2267712" y="8692455"/>
            <a:ext cx="7022592" cy="754882"/>
          </a:xfrm>
          <a:prstGeom prst="rect">
            <a:avLst/>
          </a:prstGeom>
        </p:spPr>
        <p:txBody>
          <a:bodyPr anchor="t" rtlCol="false" tIns="0" lIns="0" bIns="0" rIns="0">
            <a:spAutoFit/>
          </a:bodyPr>
          <a:lstStyle/>
          <a:p>
            <a:pPr algn="l">
              <a:lnSpc>
                <a:spcPts val="3058"/>
              </a:lnSpc>
            </a:pPr>
            <a:r>
              <a:rPr lang="en-US" sz="2184">
                <a:solidFill>
                  <a:srgbClr val="FFFFFF"/>
                </a:solidFill>
                <a:latin typeface="Lexend Deca"/>
                <a:ea typeface="Lexend Deca"/>
                <a:cs typeface="Lexend Deca"/>
                <a:sym typeface="Lexend Deca"/>
              </a:rPr>
              <a:t>Redacta descripciones fluidas, gramaticalmente correctas y adaptadas al tono o longitud requerida.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2996743"/>
            <a:ext cx="9361714" cy="6865265"/>
          </a:xfrm>
          <a:custGeom>
            <a:avLst/>
            <a:gdLst/>
            <a:ahLst/>
            <a:cxnLst/>
            <a:rect r="r" b="b" t="t" l="l"/>
            <a:pathLst>
              <a:path h="6865265" w="9361714">
                <a:moveTo>
                  <a:pt x="0" y="0"/>
                </a:moveTo>
                <a:lnTo>
                  <a:pt x="9361714" y="0"/>
                </a:lnTo>
                <a:lnTo>
                  <a:pt x="9361714" y="6865264"/>
                </a:lnTo>
                <a:lnTo>
                  <a:pt x="0" y="6865264"/>
                </a:lnTo>
                <a:lnTo>
                  <a:pt x="0" y="0"/>
                </a:lnTo>
                <a:close/>
              </a:path>
            </a:pathLst>
          </a:custGeom>
          <a:blipFill>
            <a:blip r:embed="rId3"/>
            <a:stretch>
              <a:fillRect l="0" t="0" r="0" b="0"/>
            </a:stretch>
          </a:blipFill>
        </p:spPr>
      </p:sp>
      <p:sp>
        <p:nvSpPr>
          <p:cNvPr name="Freeform 4" id="4"/>
          <p:cNvSpPr/>
          <p:nvPr/>
        </p:nvSpPr>
        <p:spPr>
          <a:xfrm flipH="false" flipV="false" rot="0">
            <a:off x="9144000" y="2996743"/>
            <a:ext cx="9144000" cy="6865265"/>
          </a:xfrm>
          <a:custGeom>
            <a:avLst/>
            <a:gdLst/>
            <a:ahLst/>
            <a:cxnLst/>
            <a:rect r="r" b="b" t="t" l="l"/>
            <a:pathLst>
              <a:path h="6865265" w="9144000">
                <a:moveTo>
                  <a:pt x="0" y="0"/>
                </a:moveTo>
                <a:lnTo>
                  <a:pt x="9144000" y="0"/>
                </a:lnTo>
                <a:lnTo>
                  <a:pt x="9144000" y="6865264"/>
                </a:lnTo>
                <a:lnTo>
                  <a:pt x="0" y="6865264"/>
                </a:lnTo>
                <a:lnTo>
                  <a:pt x="0" y="0"/>
                </a:lnTo>
                <a:close/>
              </a:path>
            </a:pathLst>
          </a:custGeom>
          <a:blipFill>
            <a:blip r:embed="rId4"/>
            <a:stretch>
              <a:fillRect l="0" t="0" r="0" b="0"/>
            </a:stretch>
          </a:blipFill>
        </p:spPr>
      </p:sp>
      <p:sp>
        <p:nvSpPr>
          <p:cNvPr name="TextBox 5" id="5"/>
          <p:cNvSpPr txBox="true"/>
          <p:nvPr/>
        </p:nvSpPr>
        <p:spPr>
          <a:xfrm rot="0">
            <a:off x="676656" y="795185"/>
            <a:ext cx="13021056" cy="1896185"/>
          </a:xfrm>
          <a:prstGeom prst="rect">
            <a:avLst/>
          </a:prstGeom>
        </p:spPr>
        <p:txBody>
          <a:bodyPr anchor="t" rtlCol="false" tIns="0" lIns="0" bIns="0" rIns="0">
            <a:spAutoFit/>
          </a:bodyPr>
          <a:lstStyle/>
          <a:p>
            <a:pPr algn="l">
              <a:lnSpc>
                <a:spcPts val="7216"/>
              </a:lnSpc>
            </a:pPr>
            <a:r>
              <a:rPr lang="en-US" sz="8018" spc="-240">
                <a:solidFill>
                  <a:srgbClr val="F4F4F4"/>
                </a:solidFill>
                <a:latin typeface="Lexend Deca"/>
                <a:ea typeface="Lexend Deca"/>
                <a:cs typeface="Lexend Deca"/>
                <a:sym typeface="Lexend Deca"/>
              </a:rPr>
              <a:t>IA Generativa vs. Programación Tradicional</a:t>
            </a:r>
          </a:p>
        </p:txBody>
      </p:sp>
      <p:sp>
        <p:nvSpPr>
          <p:cNvPr name="TextBox 6" id="6"/>
          <p:cNvSpPr txBox="true"/>
          <p:nvPr/>
        </p:nvSpPr>
        <p:spPr>
          <a:xfrm rot="0">
            <a:off x="1078992" y="3808926"/>
            <a:ext cx="5925312" cy="401437"/>
          </a:xfrm>
          <a:prstGeom prst="rect">
            <a:avLst/>
          </a:prstGeom>
        </p:spPr>
        <p:txBody>
          <a:bodyPr anchor="t" rtlCol="false" tIns="0" lIns="0" bIns="0" rIns="0">
            <a:spAutoFit/>
          </a:bodyPr>
          <a:lstStyle/>
          <a:p>
            <a:pPr algn="l">
              <a:lnSpc>
                <a:spcPts val="3035"/>
              </a:lnSpc>
            </a:pPr>
            <a:r>
              <a:rPr lang="en-US" sz="3035" spc="-91">
                <a:solidFill>
                  <a:srgbClr val="E66050"/>
                </a:solidFill>
                <a:latin typeface="Lexend Deca"/>
                <a:ea typeface="Lexend Deca"/>
                <a:cs typeface="Lexend Deca"/>
                <a:sym typeface="Lexend Deca"/>
              </a:rPr>
              <a:t>PROGRAMACIÓN TRADICIONAL</a:t>
            </a:r>
          </a:p>
        </p:txBody>
      </p:sp>
      <p:sp>
        <p:nvSpPr>
          <p:cNvPr name="Freeform 7" id="7"/>
          <p:cNvSpPr/>
          <p:nvPr/>
        </p:nvSpPr>
        <p:spPr>
          <a:xfrm flipH="false" flipV="false" rot="0">
            <a:off x="870857" y="4064673"/>
            <a:ext cx="6531429" cy="435890"/>
          </a:xfrm>
          <a:custGeom>
            <a:avLst/>
            <a:gdLst/>
            <a:ahLst/>
            <a:cxnLst/>
            <a:rect r="r" b="b" t="t" l="l"/>
            <a:pathLst>
              <a:path h="435890" w="6531429">
                <a:moveTo>
                  <a:pt x="0" y="0"/>
                </a:moveTo>
                <a:lnTo>
                  <a:pt x="6531429" y="0"/>
                </a:lnTo>
                <a:lnTo>
                  <a:pt x="6531429" y="435890"/>
                </a:lnTo>
                <a:lnTo>
                  <a:pt x="0" y="435890"/>
                </a:lnTo>
                <a:lnTo>
                  <a:pt x="0" y="0"/>
                </a:lnTo>
                <a:close/>
              </a:path>
            </a:pathLst>
          </a:custGeom>
          <a:blipFill>
            <a:blip r:embed="rId5"/>
            <a:stretch>
              <a:fillRect l="0" t="0" r="0" b="0"/>
            </a:stretch>
          </a:blipFill>
        </p:spPr>
      </p:sp>
      <p:sp>
        <p:nvSpPr>
          <p:cNvPr name="TextBox 8" id="8"/>
          <p:cNvSpPr txBox="true"/>
          <p:nvPr/>
        </p:nvSpPr>
        <p:spPr>
          <a:xfrm rot="0">
            <a:off x="1078992" y="4655006"/>
            <a:ext cx="5596128" cy="1238735"/>
          </a:xfrm>
          <a:prstGeom prst="rect">
            <a:avLst/>
          </a:prstGeom>
        </p:spPr>
        <p:txBody>
          <a:bodyPr anchor="t" rtlCol="false" tIns="0" lIns="0" bIns="0" rIns="0">
            <a:spAutoFit/>
          </a:bodyPr>
          <a:lstStyle/>
          <a:p>
            <a:pPr algn="l">
              <a:lnSpc>
                <a:spcPts val="3342"/>
              </a:lnSpc>
            </a:pPr>
            <a:r>
              <a:rPr lang="en-US" sz="2387">
                <a:solidFill>
                  <a:srgbClr val="F4F4F4"/>
                </a:solidFill>
                <a:latin typeface="Lexend Deca"/>
                <a:ea typeface="Lexend Deca"/>
                <a:cs typeface="Lexend Deca"/>
                <a:sym typeface="Lexend Deca"/>
              </a:rPr>
              <a:t>Complejidad inmanejable al codificar detectores de bordes y clasificadores para cada objeto imaginable</a:t>
            </a:r>
          </a:p>
        </p:txBody>
      </p:sp>
      <p:sp>
        <p:nvSpPr>
          <p:cNvPr name="TextBox 9" id="9"/>
          <p:cNvSpPr txBox="true"/>
          <p:nvPr/>
        </p:nvSpPr>
        <p:spPr>
          <a:xfrm rot="0">
            <a:off x="1078992" y="6259637"/>
            <a:ext cx="5449824" cy="866399"/>
          </a:xfrm>
          <a:prstGeom prst="rect">
            <a:avLst/>
          </a:prstGeom>
        </p:spPr>
        <p:txBody>
          <a:bodyPr anchor="t" rtlCol="false" tIns="0" lIns="0" bIns="0" rIns="0">
            <a:spAutoFit/>
          </a:bodyPr>
          <a:lstStyle/>
          <a:p>
            <a:pPr algn="l">
              <a:lnSpc>
                <a:spcPts val="3472"/>
              </a:lnSpc>
            </a:pPr>
            <a:r>
              <a:rPr lang="en-US" sz="2670">
                <a:solidFill>
                  <a:srgbClr val="F4F4F4"/>
                </a:solidFill>
                <a:latin typeface="Lexend Deca"/>
                <a:ea typeface="Lexend Deca"/>
                <a:cs typeface="Lexend Deca"/>
                <a:sym typeface="Lexend Deca"/>
              </a:rPr>
              <a:t>Millones de líneas de código frágiles y poco escalables</a:t>
            </a:r>
          </a:p>
        </p:txBody>
      </p:sp>
      <p:sp>
        <p:nvSpPr>
          <p:cNvPr name="TextBox 10" id="10"/>
          <p:cNvSpPr txBox="true"/>
          <p:nvPr/>
        </p:nvSpPr>
        <p:spPr>
          <a:xfrm rot="0">
            <a:off x="1078992" y="7485190"/>
            <a:ext cx="6181344" cy="792351"/>
          </a:xfrm>
          <a:prstGeom prst="rect">
            <a:avLst/>
          </a:prstGeom>
        </p:spPr>
        <p:txBody>
          <a:bodyPr anchor="t" rtlCol="false" tIns="0" lIns="0" bIns="0" rIns="0">
            <a:spAutoFit/>
          </a:bodyPr>
          <a:lstStyle/>
          <a:p>
            <a:pPr algn="l">
              <a:lnSpc>
                <a:spcPts val="3103"/>
              </a:lnSpc>
            </a:pPr>
            <a:r>
              <a:rPr lang="en-US" sz="2387">
                <a:solidFill>
                  <a:srgbClr val="F4F4F4"/>
                </a:solidFill>
                <a:latin typeface="Lexend Deca"/>
                <a:ea typeface="Lexend Deca"/>
                <a:cs typeface="Lexend Deca"/>
                <a:sym typeface="Lexend Deca"/>
              </a:rPr>
              <a:t>Rigidez extrema con fallos ante variaciones de luz, rotación o perspectiva</a:t>
            </a:r>
          </a:p>
        </p:txBody>
      </p:sp>
      <p:sp>
        <p:nvSpPr>
          <p:cNvPr name="TextBox 11" id="11"/>
          <p:cNvSpPr txBox="true"/>
          <p:nvPr/>
        </p:nvSpPr>
        <p:spPr>
          <a:xfrm rot="0">
            <a:off x="1078992" y="8658606"/>
            <a:ext cx="4901184" cy="400050"/>
          </a:xfrm>
          <a:prstGeom prst="rect">
            <a:avLst/>
          </a:prstGeom>
        </p:spPr>
        <p:txBody>
          <a:bodyPr anchor="t" rtlCol="false" tIns="0" lIns="0" bIns="0" rIns="0">
            <a:spAutoFit/>
          </a:bodyPr>
          <a:lstStyle/>
          <a:p>
            <a:pPr algn="l">
              <a:lnSpc>
                <a:spcPts val="3103"/>
              </a:lnSpc>
            </a:pPr>
            <a:r>
              <a:rPr lang="en-US" sz="2387">
                <a:solidFill>
                  <a:srgbClr val="F4F4F4"/>
                </a:solidFill>
                <a:latin typeface="Lexend Deca"/>
                <a:ea typeface="Lexend Deca"/>
                <a:cs typeface="Lexend Deca"/>
                <a:sym typeface="Lexend Deca"/>
              </a:rPr>
              <a:t>Respuestas robóticas y limitadas</a:t>
            </a:r>
          </a:p>
        </p:txBody>
      </p:sp>
      <p:sp>
        <p:nvSpPr>
          <p:cNvPr name="TextBox 12" id="12"/>
          <p:cNvSpPr txBox="true"/>
          <p:nvPr/>
        </p:nvSpPr>
        <p:spPr>
          <a:xfrm rot="0">
            <a:off x="11210544" y="3808411"/>
            <a:ext cx="3035808" cy="402467"/>
          </a:xfrm>
          <a:prstGeom prst="rect">
            <a:avLst/>
          </a:prstGeom>
        </p:spPr>
        <p:txBody>
          <a:bodyPr anchor="t" rtlCol="false" tIns="0" lIns="0" bIns="0" rIns="0">
            <a:spAutoFit/>
          </a:bodyPr>
          <a:lstStyle/>
          <a:p>
            <a:pPr algn="l">
              <a:lnSpc>
                <a:spcPts val="3076"/>
              </a:lnSpc>
            </a:pPr>
            <a:r>
              <a:rPr lang="en-US" sz="3076" spc="-92">
                <a:solidFill>
                  <a:srgbClr val="E66050"/>
                </a:solidFill>
                <a:latin typeface="Lexend Deca"/>
                <a:ea typeface="Lexend Deca"/>
                <a:cs typeface="Lexend Deca"/>
                <a:sym typeface="Lexend Deca"/>
              </a:rPr>
              <a:t>IA GENERATIVA</a:t>
            </a:r>
          </a:p>
        </p:txBody>
      </p:sp>
      <p:sp>
        <p:nvSpPr>
          <p:cNvPr name="Freeform 13" id="13"/>
          <p:cNvSpPr/>
          <p:nvPr/>
        </p:nvSpPr>
        <p:spPr>
          <a:xfrm flipH="false" flipV="false" rot="0">
            <a:off x="11103429" y="4064673"/>
            <a:ext cx="5660571" cy="435890"/>
          </a:xfrm>
          <a:custGeom>
            <a:avLst/>
            <a:gdLst/>
            <a:ahLst/>
            <a:cxnLst/>
            <a:rect r="r" b="b" t="t" l="l"/>
            <a:pathLst>
              <a:path h="435890" w="5660571">
                <a:moveTo>
                  <a:pt x="0" y="0"/>
                </a:moveTo>
                <a:lnTo>
                  <a:pt x="5660571" y="0"/>
                </a:lnTo>
                <a:lnTo>
                  <a:pt x="5660571" y="435890"/>
                </a:lnTo>
                <a:lnTo>
                  <a:pt x="0" y="435890"/>
                </a:lnTo>
                <a:lnTo>
                  <a:pt x="0" y="0"/>
                </a:lnTo>
                <a:close/>
              </a:path>
            </a:pathLst>
          </a:custGeom>
          <a:blipFill>
            <a:blip r:embed="rId6"/>
            <a:stretch>
              <a:fillRect l="0" t="0" r="0" b="0"/>
            </a:stretch>
          </a:blipFill>
        </p:spPr>
      </p:sp>
      <p:sp>
        <p:nvSpPr>
          <p:cNvPr name="TextBox 14" id="14"/>
          <p:cNvSpPr txBox="true"/>
          <p:nvPr/>
        </p:nvSpPr>
        <p:spPr>
          <a:xfrm rot="0">
            <a:off x="11210544" y="4737295"/>
            <a:ext cx="4389120" cy="772786"/>
          </a:xfrm>
          <a:prstGeom prst="rect">
            <a:avLst/>
          </a:prstGeom>
        </p:spPr>
        <p:txBody>
          <a:bodyPr anchor="t" rtlCol="false" tIns="0" lIns="0" bIns="0" rIns="0">
            <a:spAutoFit/>
          </a:bodyPr>
          <a:lstStyle/>
          <a:p>
            <a:pPr algn="l">
              <a:lnSpc>
                <a:spcPts val="3156"/>
              </a:lnSpc>
            </a:pPr>
            <a:r>
              <a:rPr lang="en-US" sz="2427">
                <a:solidFill>
                  <a:srgbClr val="F4F4F4"/>
                </a:solidFill>
                <a:latin typeface="Lexend Deca"/>
                <a:ea typeface="Lexend Deca"/>
                <a:cs typeface="Lexend Deca"/>
                <a:sym typeface="Lexend Deca"/>
              </a:rPr>
              <a:t>Fluidez, coherencia y riqueza narrativa automática</a:t>
            </a:r>
          </a:p>
        </p:txBody>
      </p:sp>
      <p:sp>
        <p:nvSpPr>
          <p:cNvPr name="TextBox 15" id="15"/>
          <p:cNvSpPr txBox="true"/>
          <p:nvPr/>
        </p:nvSpPr>
        <p:spPr>
          <a:xfrm rot="0">
            <a:off x="11210544" y="6095493"/>
            <a:ext cx="4498848" cy="824355"/>
          </a:xfrm>
          <a:prstGeom prst="rect">
            <a:avLst/>
          </a:prstGeom>
        </p:spPr>
        <p:txBody>
          <a:bodyPr anchor="t" rtlCol="false" tIns="0" lIns="0" bIns="0" rIns="0">
            <a:spAutoFit/>
          </a:bodyPr>
          <a:lstStyle/>
          <a:p>
            <a:pPr algn="l">
              <a:lnSpc>
                <a:spcPts val="3314"/>
              </a:lnSpc>
            </a:pPr>
            <a:r>
              <a:rPr lang="en-US" sz="2549">
                <a:solidFill>
                  <a:srgbClr val="F4F4F4"/>
                </a:solidFill>
                <a:latin typeface="Lexend Deca"/>
                <a:ea typeface="Lexend Deca"/>
                <a:cs typeface="Lexend Deca"/>
                <a:sym typeface="Lexend Deca"/>
              </a:rPr>
              <a:t>Capacidad de generalización y adaptación</a:t>
            </a:r>
          </a:p>
        </p:txBody>
      </p:sp>
      <p:sp>
        <p:nvSpPr>
          <p:cNvPr name="TextBox 16" id="16"/>
          <p:cNvSpPr txBox="true"/>
          <p:nvPr/>
        </p:nvSpPr>
        <p:spPr>
          <a:xfrm rot="0">
            <a:off x="11210544" y="7441220"/>
            <a:ext cx="4992624" cy="1292533"/>
          </a:xfrm>
          <a:prstGeom prst="rect">
            <a:avLst/>
          </a:prstGeom>
        </p:spPr>
        <p:txBody>
          <a:bodyPr anchor="t" rtlCol="false" tIns="0" lIns="0" bIns="0" rIns="0">
            <a:spAutoFit/>
          </a:bodyPr>
          <a:lstStyle/>
          <a:p>
            <a:pPr algn="l">
              <a:lnSpc>
                <a:spcPts val="3455"/>
              </a:lnSpc>
            </a:pPr>
            <a:r>
              <a:rPr lang="en-US" sz="2468">
                <a:solidFill>
                  <a:srgbClr val="F4F4F4"/>
                </a:solidFill>
                <a:latin typeface="Lexend Deca"/>
                <a:ea typeface="Lexend Deca"/>
                <a:cs typeface="Lexend Deca"/>
                <a:sym typeface="Lexend Deca"/>
              </a:rPr>
              <a:t>Mejora la experiencia de usuario con descripciones naturales</a:t>
            </a:r>
          </a:p>
          <a:p>
            <a:pPr algn="l">
              <a:lnSpc>
                <a:spcPts val="3455"/>
              </a:lnSpc>
            </a:pPr>
            <a:r>
              <a:rPr lang="en-US" sz="2468">
                <a:solidFill>
                  <a:srgbClr val="F4F4F4"/>
                </a:solidFill>
                <a:latin typeface="Lexend Deca"/>
                <a:ea typeface="Lexend Deca"/>
                <a:cs typeface="Lexend Deca"/>
                <a:sym typeface="Lexend Deca"/>
              </a:rPr>
              <a:t>y contextuales</a:t>
            </a:r>
          </a:p>
        </p:txBody>
      </p:sp>
      <p:sp>
        <p:nvSpPr>
          <p:cNvPr name="Freeform 17" id="17"/>
          <p:cNvSpPr/>
          <p:nvPr/>
        </p:nvSpPr>
        <p:spPr>
          <a:xfrm flipH="false" flipV="false" rot="0">
            <a:off x="8273143" y="5350548"/>
            <a:ext cx="1959429" cy="1939710"/>
          </a:xfrm>
          <a:custGeom>
            <a:avLst/>
            <a:gdLst/>
            <a:ahLst/>
            <a:cxnLst/>
            <a:rect r="r" b="b" t="t" l="l"/>
            <a:pathLst>
              <a:path h="1939710" w="1959429">
                <a:moveTo>
                  <a:pt x="0" y="0"/>
                </a:moveTo>
                <a:lnTo>
                  <a:pt x="1959428" y="0"/>
                </a:lnTo>
                <a:lnTo>
                  <a:pt x="1959428" y="1939709"/>
                </a:lnTo>
                <a:lnTo>
                  <a:pt x="0" y="1939709"/>
                </a:lnTo>
                <a:lnTo>
                  <a:pt x="0" y="0"/>
                </a:lnTo>
                <a:close/>
              </a:path>
            </a:pathLst>
          </a:custGeom>
          <a:blipFill>
            <a:blip r:embed="rId7"/>
            <a:stretch>
              <a:fillRect l="0" t="0" r="0" b="0"/>
            </a:stretch>
          </a:blipFill>
        </p:spPr>
      </p:sp>
      <p:sp>
        <p:nvSpPr>
          <p:cNvPr name="TextBox 18" id="18"/>
          <p:cNvSpPr txBox="true"/>
          <p:nvPr/>
        </p:nvSpPr>
        <p:spPr>
          <a:xfrm rot="0">
            <a:off x="8741664" y="6104625"/>
            <a:ext cx="1060704" cy="733700"/>
          </a:xfrm>
          <a:prstGeom prst="rect">
            <a:avLst/>
          </a:prstGeom>
        </p:spPr>
        <p:txBody>
          <a:bodyPr anchor="t" rtlCol="false" tIns="0" lIns="0" bIns="0" rIns="0">
            <a:spAutoFit/>
          </a:bodyPr>
          <a:lstStyle/>
          <a:p>
            <a:pPr algn="ctr">
              <a:lnSpc>
                <a:spcPts val="5547"/>
              </a:lnSpc>
            </a:pPr>
            <a:r>
              <a:rPr lang="en-US" sz="5547" spc="-166">
                <a:solidFill>
                  <a:srgbClr val="151F28"/>
                </a:solidFill>
                <a:latin typeface="Lexend Deca"/>
                <a:ea typeface="Lexend Deca"/>
                <a:cs typeface="Lexend Deca"/>
                <a:sym typeface="Lexend Deca"/>
              </a:rPr>
              <a:t>VS.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088541" y="2802098"/>
            <a:ext cx="7852076" cy="5234718"/>
          </a:xfrm>
          <a:custGeom>
            <a:avLst/>
            <a:gdLst/>
            <a:ahLst/>
            <a:cxnLst/>
            <a:rect r="r" b="b" t="t" l="l"/>
            <a:pathLst>
              <a:path h="5234718" w="7852076">
                <a:moveTo>
                  <a:pt x="0" y="0"/>
                </a:moveTo>
                <a:lnTo>
                  <a:pt x="7852077" y="0"/>
                </a:lnTo>
                <a:lnTo>
                  <a:pt x="7852077" y="5234718"/>
                </a:lnTo>
                <a:lnTo>
                  <a:pt x="0" y="5234718"/>
                </a:lnTo>
                <a:lnTo>
                  <a:pt x="0" y="0"/>
                </a:lnTo>
                <a:close/>
              </a:path>
            </a:pathLst>
          </a:custGeom>
          <a:blipFill>
            <a:blip r:embed="rId3"/>
            <a:stretch>
              <a:fillRect l="0" t="0" r="0" b="0"/>
            </a:stretch>
          </a:blipFill>
        </p:spPr>
      </p:sp>
      <p:sp>
        <p:nvSpPr>
          <p:cNvPr name="TextBox 4" id="4"/>
          <p:cNvSpPr txBox="true"/>
          <p:nvPr/>
        </p:nvSpPr>
        <p:spPr>
          <a:xfrm rot="0">
            <a:off x="658368" y="608312"/>
            <a:ext cx="11252499" cy="1571625"/>
          </a:xfrm>
          <a:prstGeom prst="rect">
            <a:avLst/>
          </a:prstGeom>
        </p:spPr>
        <p:txBody>
          <a:bodyPr anchor="t" rtlCol="false" tIns="0" lIns="0" bIns="0" rIns="0">
            <a:spAutoFit/>
          </a:bodyPr>
          <a:lstStyle/>
          <a:p>
            <a:pPr algn="l">
              <a:lnSpc>
                <a:spcPts val="6000"/>
              </a:lnSpc>
            </a:pPr>
            <a:r>
              <a:rPr lang="en-US" sz="6000" spc="-120">
                <a:solidFill>
                  <a:srgbClr val="FFFFFF"/>
                </a:solidFill>
                <a:latin typeface="Lexend Deca"/>
                <a:ea typeface="Lexend Deca"/>
                <a:cs typeface="Lexend Deca"/>
                <a:sym typeface="Lexend Deca"/>
              </a:rPr>
              <a:t>DEL USUARIO AL MODELO: </a:t>
            </a:r>
            <a:r>
              <a:rPr lang="en-US" sz="6000" spc="-120">
                <a:solidFill>
                  <a:srgbClr val="F4534B"/>
                </a:solidFill>
                <a:latin typeface="Lexend Deca"/>
                <a:ea typeface="Lexend Deca"/>
                <a:cs typeface="Lexend Deca"/>
                <a:sym typeface="Lexend Deca"/>
              </a:rPr>
              <a:t>CONSTRUCCIÓN DEL PROMPT</a:t>
            </a:r>
          </a:p>
        </p:txBody>
      </p:sp>
      <p:sp>
        <p:nvSpPr>
          <p:cNvPr name="TextBox 5" id="5"/>
          <p:cNvSpPr txBox="true"/>
          <p:nvPr/>
        </p:nvSpPr>
        <p:spPr>
          <a:xfrm rot="0">
            <a:off x="658368" y="3030030"/>
            <a:ext cx="6949440" cy="375597"/>
          </a:xfrm>
          <a:prstGeom prst="rect">
            <a:avLst/>
          </a:prstGeom>
        </p:spPr>
        <p:txBody>
          <a:bodyPr anchor="t" rtlCol="false" tIns="0" lIns="0" bIns="0" rIns="0">
            <a:spAutoFit/>
          </a:bodyPr>
          <a:lstStyle/>
          <a:p>
            <a:pPr algn="l">
              <a:lnSpc>
                <a:spcPts val="2787"/>
              </a:lnSpc>
            </a:pPr>
            <a:r>
              <a:rPr lang="en-US" sz="2787" spc="-55">
                <a:solidFill>
                  <a:srgbClr val="F4534B"/>
                </a:solidFill>
                <a:latin typeface="Lexend Deca"/>
                <a:ea typeface="Lexend Deca"/>
                <a:cs typeface="Lexend Deca"/>
                <a:sym typeface="Lexend Deca"/>
              </a:rPr>
              <a:t>PROMPT DEL USUARIO</a:t>
            </a:r>
          </a:p>
        </p:txBody>
      </p:sp>
      <p:sp>
        <p:nvSpPr>
          <p:cNvPr name="TextBox 6" id="6"/>
          <p:cNvSpPr txBox="true"/>
          <p:nvPr/>
        </p:nvSpPr>
        <p:spPr>
          <a:xfrm rot="0">
            <a:off x="658368" y="3672387"/>
            <a:ext cx="7223760" cy="2036921"/>
          </a:xfrm>
          <a:prstGeom prst="rect">
            <a:avLst/>
          </a:prstGeom>
        </p:spPr>
        <p:txBody>
          <a:bodyPr anchor="t" rtlCol="false" tIns="0" lIns="0" bIns="0" rIns="0">
            <a:spAutoFit/>
          </a:bodyPr>
          <a:lstStyle/>
          <a:p>
            <a:pPr algn="just">
              <a:lnSpc>
                <a:spcPts val="3228"/>
              </a:lnSpc>
            </a:pPr>
            <a:r>
              <a:rPr lang="en-US" sz="2306">
                <a:solidFill>
                  <a:srgbClr val="FFFFFF"/>
                </a:solidFill>
                <a:latin typeface="Lexend Deca"/>
                <a:ea typeface="Lexend Deca"/>
                <a:cs typeface="Lexend Deca"/>
                <a:sym typeface="Lexend Deca"/>
              </a:rPr>
              <a:t>Analiza la imagen proporcionada e identifica los elementos principales de la escena. Describe los objetos, el entorno, las acciones y las relaciones entre los elementos. Genera finalmente una descripción natural, clara y detallada en español.</a:t>
            </a:r>
          </a:p>
        </p:txBody>
      </p:sp>
      <p:sp>
        <p:nvSpPr>
          <p:cNvPr name="TextBox 7" id="7"/>
          <p:cNvSpPr txBox="true"/>
          <p:nvPr/>
        </p:nvSpPr>
        <p:spPr>
          <a:xfrm rot="0">
            <a:off x="658368" y="6557033"/>
            <a:ext cx="6949440" cy="375597"/>
          </a:xfrm>
          <a:prstGeom prst="rect">
            <a:avLst/>
          </a:prstGeom>
        </p:spPr>
        <p:txBody>
          <a:bodyPr anchor="t" rtlCol="false" tIns="0" lIns="0" bIns="0" rIns="0">
            <a:spAutoFit/>
          </a:bodyPr>
          <a:lstStyle/>
          <a:p>
            <a:pPr algn="l">
              <a:lnSpc>
                <a:spcPts val="2787"/>
              </a:lnSpc>
            </a:pPr>
            <a:r>
              <a:rPr lang="en-US" sz="2787" spc="-55">
                <a:solidFill>
                  <a:srgbClr val="F4534B"/>
                </a:solidFill>
                <a:latin typeface="Lexend Deca"/>
                <a:ea typeface="Lexend Deca"/>
                <a:cs typeface="Lexend Deca"/>
                <a:sym typeface="Lexend Deca"/>
              </a:rPr>
              <a:t>ELEMENTOS DEL PROMPT</a:t>
            </a:r>
          </a:p>
        </p:txBody>
      </p:sp>
      <p:sp>
        <p:nvSpPr>
          <p:cNvPr name="TextBox 8" id="8"/>
          <p:cNvSpPr txBox="true"/>
          <p:nvPr/>
        </p:nvSpPr>
        <p:spPr>
          <a:xfrm rot="0">
            <a:off x="658368" y="7199330"/>
            <a:ext cx="9195995" cy="1627346"/>
          </a:xfrm>
          <a:prstGeom prst="rect">
            <a:avLst/>
          </a:prstGeom>
        </p:spPr>
        <p:txBody>
          <a:bodyPr anchor="t" rtlCol="false" tIns="0" lIns="0" bIns="0" rIns="0">
            <a:spAutoFit/>
          </a:bodyPr>
          <a:lstStyle/>
          <a:p>
            <a:pPr algn="just">
              <a:lnSpc>
                <a:spcPts val="3228"/>
              </a:lnSpc>
            </a:pPr>
            <a:r>
              <a:rPr lang="en-US" sz="2306">
                <a:solidFill>
                  <a:srgbClr val="F4534B"/>
                </a:solidFill>
                <a:latin typeface="Lexend Deca"/>
                <a:ea typeface="Lexend Deca"/>
                <a:cs typeface="Lexend Deca"/>
                <a:sym typeface="Lexend Deca"/>
              </a:rPr>
              <a:t>Acción:</a:t>
            </a:r>
            <a:r>
              <a:rPr lang="en-US" sz="2306">
                <a:solidFill>
                  <a:srgbClr val="FFFFFF"/>
                </a:solidFill>
                <a:latin typeface="Lexend Deca"/>
                <a:ea typeface="Lexend Deca"/>
                <a:cs typeface="Lexend Deca"/>
                <a:sym typeface="Lexend Deca"/>
              </a:rPr>
              <a:t> Analizar</a:t>
            </a:r>
          </a:p>
          <a:p>
            <a:pPr algn="just">
              <a:lnSpc>
                <a:spcPts val="3228"/>
              </a:lnSpc>
            </a:pPr>
            <a:r>
              <a:rPr lang="en-US" sz="2306">
                <a:solidFill>
                  <a:srgbClr val="F4534B"/>
                </a:solidFill>
                <a:latin typeface="Lexend Deca"/>
                <a:ea typeface="Lexend Deca"/>
                <a:cs typeface="Lexend Deca"/>
                <a:sym typeface="Lexend Deca"/>
              </a:rPr>
              <a:t>Entrada:</a:t>
            </a:r>
            <a:r>
              <a:rPr lang="en-US" sz="2306">
                <a:solidFill>
                  <a:srgbClr val="FFFFFF"/>
                </a:solidFill>
                <a:latin typeface="Lexend Deca"/>
                <a:ea typeface="Lexend Deca"/>
                <a:cs typeface="Lexend Deca"/>
                <a:sym typeface="Lexend Deca"/>
              </a:rPr>
              <a:t> Imagen</a:t>
            </a:r>
          </a:p>
          <a:p>
            <a:pPr algn="just">
              <a:lnSpc>
                <a:spcPts val="3228"/>
              </a:lnSpc>
            </a:pPr>
            <a:r>
              <a:rPr lang="en-US" sz="2306">
                <a:solidFill>
                  <a:srgbClr val="F4534B"/>
                </a:solidFill>
                <a:latin typeface="Lexend Deca"/>
                <a:ea typeface="Lexend Deca"/>
                <a:cs typeface="Lexend Deca"/>
                <a:sym typeface="Lexend Deca"/>
              </a:rPr>
              <a:t>Información solicitada:</a:t>
            </a:r>
            <a:r>
              <a:rPr lang="en-US" sz="2306">
                <a:solidFill>
                  <a:srgbClr val="FFFFFF"/>
                </a:solidFill>
                <a:latin typeface="Lexend Deca"/>
                <a:ea typeface="Lexend Deca"/>
                <a:cs typeface="Lexend Deca"/>
                <a:sym typeface="Lexend Deca"/>
              </a:rPr>
              <a:t> Objetos, entorno, acciones y relaciones.</a:t>
            </a:r>
          </a:p>
          <a:p>
            <a:pPr algn="just">
              <a:lnSpc>
                <a:spcPts val="3228"/>
              </a:lnSpc>
            </a:pPr>
            <a:r>
              <a:rPr lang="en-US" sz="2306">
                <a:solidFill>
                  <a:srgbClr val="F4534B"/>
                </a:solidFill>
                <a:latin typeface="Lexend Deca"/>
                <a:ea typeface="Lexend Deca"/>
                <a:cs typeface="Lexend Deca"/>
                <a:sym typeface="Lexend Deca"/>
              </a:rPr>
              <a:t>Salida:</a:t>
            </a:r>
            <a:r>
              <a:rPr lang="en-US" sz="2306">
                <a:solidFill>
                  <a:srgbClr val="FFFFFF"/>
                </a:solidFill>
                <a:latin typeface="Lexend Deca"/>
                <a:ea typeface="Lexend Deca"/>
                <a:cs typeface="Lexend Deca"/>
                <a:sym typeface="Lexend Deca"/>
              </a:rPr>
              <a:t> Descripción natural en español.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21792" y="626650"/>
            <a:ext cx="11255368" cy="843915"/>
          </a:xfrm>
          <a:prstGeom prst="rect">
            <a:avLst/>
          </a:prstGeom>
        </p:spPr>
        <p:txBody>
          <a:bodyPr anchor="t" rtlCol="false" tIns="0" lIns="0" bIns="0" rIns="0">
            <a:spAutoFit/>
          </a:bodyPr>
          <a:lstStyle/>
          <a:p>
            <a:pPr algn="l">
              <a:lnSpc>
                <a:spcPts val="6480"/>
              </a:lnSpc>
            </a:pPr>
            <a:r>
              <a:rPr lang="en-US" sz="6000">
                <a:solidFill>
                  <a:srgbClr val="FFFFFF"/>
                </a:solidFill>
                <a:latin typeface="Lexend Deca"/>
                <a:ea typeface="Lexend Deca"/>
                <a:cs typeface="Lexend Deca"/>
                <a:sym typeface="Lexend Deca"/>
              </a:rPr>
              <a:t>DEL TEXTO A </a:t>
            </a:r>
            <a:r>
              <a:rPr lang="en-US" sz="6000">
                <a:solidFill>
                  <a:srgbClr val="F4534B"/>
                </a:solidFill>
                <a:latin typeface="Lexend Deca"/>
                <a:ea typeface="Lexend Deca"/>
                <a:cs typeface="Lexend Deca"/>
                <a:sym typeface="Lexend Deca"/>
              </a:rPr>
              <a:t>LOS TOKENS</a:t>
            </a:r>
          </a:p>
        </p:txBody>
      </p:sp>
      <p:sp>
        <p:nvSpPr>
          <p:cNvPr name="TextBox 4" id="4"/>
          <p:cNvSpPr txBox="true"/>
          <p:nvPr/>
        </p:nvSpPr>
        <p:spPr>
          <a:xfrm rot="0">
            <a:off x="621792" y="2042855"/>
            <a:ext cx="6547104"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Simplificación del prompt a TOKENS</a:t>
            </a:r>
          </a:p>
        </p:txBody>
      </p:sp>
      <p:sp>
        <p:nvSpPr>
          <p:cNvPr name="Freeform 5" id="5"/>
          <p:cNvSpPr/>
          <p:nvPr/>
        </p:nvSpPr>
        <p:spPr>
          <a:xfrm flipH="false" flipV="false" rot="0">
            <a:off x="195658" y="2903317"/>
            <a:ext cx="2143464" cy="1721765"/>
          </a:xfrm>
          <a:custGeom>
            <a:avLst/>
            <a:gdLst/>
            <a:ahLst/>
            <a:cxnLst/>
            <a:rect r="r" b="b" t="t" l="l"/>
            <a:pathLst>
              <a:path h="1721765" w="2143464">
                <a:moveTo>
                  <a:pt x="0" y="0"/>
                </a:moveTo>
                <a:lnTo>
                  <a:pt x="2143464" y="0"/>
                </a:lnTo>
                <a:lnTo>
                  <a:pt x="2143464" y="1721765"/>
                </a:lnTo>
                <a:lnTo>
                  <a:pt x="0" y="1721765"/>
                </a:lnTo>
                <a:lnTo>
                  <a:pt x="0" y="0"/>
                </a:lnTo>
                <a:close/>
              </a:path>
            </a:pathLst>
          </a:custGeom>
          <a:blipFill>
            <a:blip r:embed="rId3"/>
            <a:stretch>
              <a:fillRect l="0" t="-56012" r="-21885" b="-56012"/>
            </a:stretch>
          </a:blipFill>
        </p:spPr>
      </p:sp>
      <p:sp>
        <p:nvSpPr>
          <p:cNvPr name="TextBox 6" id="6"/>
          <p:cNvSpPr txBox="true"/>
          <p:nvPr/>
        </p:nvSpPr>
        <p:spPr>
          <a:xfrm rot="0">
            <a:off x="758830" y="4837203"/>
            <a:ext cx="1335024" cy="306297"/>
          </a:xfrm>
          <a:prstGeom prst="rect">
            <a:avLst/>
          </a:prstGeom>
        </p:spPr>
        <p:txBody>
          <a:bodyPr anchor="t" rtlCol="false" tIns="0" lIns="0" bIns="0" rIns="0">
            <a:spAutoFit/>
          </a:bodyPr>
          <a:lstStyle/>
          <a:p>
            <a:pPr algn="ctr">
              <a:lnSpc>
                <a:spcPts val="2652"/>
              </a:lnSpc>
            </a:pPr>
            <a:r>
              <a:rPr lang="en-US" sz="1658">
                <a:solidFill>
                  <a:srgbClr val="FFFFFF"/>
                </a:solidFill>
                <a:latin typeface="Lexend Deca"/>
                <a:ea typeface="Lexend Deca"/>
                <a:cs typeface="Lexend Deca"/>
                <a:sym typeface="Lexend Deca"/>
              </a:rPr>
              <a:t>Token 1</a:t>
            </a:r>
          </a:p>
        </p:txBody>
      </p:sp>
      <p:sp>
        <p:nvSpPr>
          <p:cNvPr name="TextBox 7" id="7"/>
          <p:cNvSpPr txBox="true"/>
          <p:nvPr/>
        </p:nvSpPr>
        <p:spPr>
          <a:xfrm rot="0">
            <a:off x="5176243" y="4852901"/>
            <a:ext cx="2048256" cy="321231"/>
          </a:xfrm>
          <a:prstGeom prst="rect">
            <a:avLst/>
          </a:prstGeom>
        </p:spPr>
        <p:txBody>
          <a:bodyPr anchor="t" rtlCol="false" tIns="0" lIns="0" bIns="0" rIns="0">
            <a:spAutoFit/>
          </a:bodyPr>
          <a:lstStyle/>
          <a:p>
            <a:pPr algn="ctr">
              <a:lnSpc>
                <a:spcPts val="2782"/>
              </a:lnSpc>
            </a:pPr>
            <a:r>
              <a:rPr lang="en-US" sz="1739">
                <a:solidFill>
                  <a:srgbClr val="FFFFFF"/>
                </a:solidFill>
                <a:latin typeface="Lexend Deca"/>
                <a:ea typeface="Lexend Deca"/>
                <a:cs typeface="Lexend Deca"/>
                <a:sym typeface="Lexend Deca"/>
              </a:rPr>
              <a:t>Token 3</a:t>
            </a:r>
          </a:p>
        </p:txBody>
      </p:sp>
      <p:sp>
        <p:nvSpPr>
          <p:cNvPr name="TextBox 8" id="8"/>
          <p:cNvSpPr txBox="true"/>
          <p:nvPr/>
        </p:nvSpPr>
        <p:spPr>
          <a:xfrm rot="0">
            <a:off x="7761096" y="4844405"/>
            <a:ext cx="2523744" cy="328697"/>
          </a:xfrm>
          <a:prstGeom prst="rect">
            <a:avLst/>
          </a:prstGeom>
        </p:spPr>
        <p:txBody>
          <a:bodyPr anchor="t" rtlCol="false" tIns="0" lIns="0" bIns="0" rIns="0">
            <a:spAutoFit/>
          </a:bodyPr>
          <a:lstStyle/>
          <a:p>
            <a:pPr algn="ctr">
              <a:lnSpc>
                <a:spcPts val="2847"/>
              </a:lnSpc>
            </a:pPr>
            <a:r>
              <a:rPr lang="en-US" sz="1779">
                <a:solidFill>
                  <a:srgbClr val="FFFFFF"/>
                </a:solidFill>
                <a:latin typeface="Lexend Deca"/>
                <a:ea typeface="Lexend Deca"/>
                <a:cs typeface="Lexend Deca"/>
                <a:sym typeface="Lexend Deca"/>
              </a:rPr>
              <a:t>Token 4</a:t>
            </a:r>
          </a:p>
        </p:txBody>
      </p:sp>
      <p:sp>
        <p:nvSpPr>
          <p:cNvPr name="TextBox 9" id="9"/>
          <p:cNvSpPr txBox="true"/>
          <p:nvPr/>
        </p:nvSpPr>
        <p:spPr>
          <a:xfrm rot="0">
            <a:off x="10469494" y="4837203"/>
            <a:ext cx="2048256" cy="321231"/>
          </a:xfrm>
          <a:prstGeom prst="rect">
            <a:avLst/>
          </a:prstGeom>
        </p:spPr>
        <p:txBody>
          <a:bodyPr anchor="t" rtlCol="false" tIns="0" lIns="0" bIns="0" rIns="0">
            <a:spAutoFit/>
          </a:bodyPr>
          <a:lstStyle/>
          <a:p>
            <a:pPr algn="ctr">
              <a:lnSpc>
                <a:spcPts val="2782"/>
              </a:lnSpc>
            </a:pPr>
            <a:r>
              <a:rPr lang="en-US" sz="1739">
                <a:solidFill>
                  <a:srgbClr val="FFFFFF"/>
                </a:solidFill>
                <a:latin typeface="Lexend Deca"/>
                <a:ea typeface="Lexend Deca"/>
                <a:cs typeface="Lexend Deca"/>
                <a:sym typeface="Lexend Deca"/>
              </a:rPr>
              <a:t>Token 5</a:t>
            </a:r>
          </a:p>
        </p:txBody>
      </p:sp>
      <p:sp>
        <p:nvSpPr>
          <p:cNvPr name="TextBox 10" id="10"/>
          <p:cNvSpPr txBox="true"/>
          <p:nvPr/>
        </p:nvSpPr>
        <p:spPr>
          <a:xfrm rot="0">
            <a:off x="12907292" y="4850843"/>
            <a:ext cx="2194560" cy="323289"/>
          </a:xfrm>
          <a:prstGeom prst="rect">
            <a:avLst/>
          </a:prstGeom>
        </p:spPr>
        <p:txBody>
          <a:bodyPr anchor="t" rtlCol="false" tIns="0" lIns="0" bIns="0" rIns="0">
            <a:spAutoFit/>
          </a:bodyPr>
          <a:lstStyle/>
          <a:p>
            <a:pPr algn="ctr">
              <a:lnSpc>
                <a:spcPts val="2717"/>
              </a:lnSpc>
            </a:pPr>
            <a:r>
              <a:rPr lang="en-US" sz="1698">
                <a:solidFill>
                  <a:srgbClr val="FFFFFF"/>
                </a:solidFill>
                <a:latin typeface="Lexend Deca"/>
                <a:ea typeface="Lexend Deca"/>
                <a:cs typeface="Lexend Deca"/>
                <a:sym typeface="Lexend Deca"/>
              </a:rPr>
              <a:t>Token 6</a:t>
            </a:r>
          </a:p>
        </p:txBody>
      </p:sp>
      <p:sp>
        <p:nvSpPr>
          <p:cNvPr name="TextBox 11" id="11"/>
          <p:cNvSpPr txBox="true"/>
          <p:nvPr/>
        </p:nvSpPr>
        <p:spPr>
          <a:xfrm rot="0">
            <a:off x="3018837" y="4852901"/>
            <a:ext cx="1707109" cy="321231"/>
          </a:xfrm>
          <a:prstGeom prst="rect">
            <a:avLst/>
          </a:prstGeom>
        </p:spPr>
        <p:txBody>
          <a:bodyPr anchor="t" rtlCol="false" tIns="0" lIns="0" bIns="0" rIns="0">
            <a:spAutoFit/>
          </a:bodyPr>
          <a:lstStyle/>
          <a:p>
            <a:pPr algn="ctr">
              <a:lnSpc>
                <a:spcPts val="2782"/>
              </a:lnSpc>
            </a:pPr>
            <a:r>
              <a:rPr lang="en-US" sz="1739">
                <a:solidFill>
                  <a:srgbClr val="FFFFFF"/>
                </a:solidFill>
                <a:latin typeface="Lexend Deca"/>
                <a:ea typeface="Lexend Deca"/>
                <a:cs typeface="Lexend Deca"/>
                <a:sym typeface="Lexend Deca"/>
              </a:rPr>
              <a:t>Token 2</a:t>
            </a:r>
          </a:p>
        </p:txBody>
      </p:sp>
      <p:sp>
        <p:nvSpPr>
          <p:cNvPr name="TextBox 12" id="12"/>
          <p:cNvSpPr txBox="true"/>
          <p:nvPr/>
        </p:nvSpPr>
        <p:spPr>
          <a:xfrm rot="0">
            <a:off x="794167" y="3601580"/>
            <a:ext cx="1299687"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Genera</a:t>
            </a:r>
          </a:p>
        </p:txBody>
      </p:sp>
      <p:sp>
        <p:nvSpPr>
          <p:cNvPr name="Freeform 13" id="13"/>
          <p:cNvSpPr/>
          <p:nvPr/>
        </p:nvSpPr>
        <p:spPr>
          <a:xfrm flipH="false" flipV="false" rot="0">
            <a:off x="2621981" y="2903317"/>
            <a:ext cx="2143464" cy="1721765"/>
          </a:xfrm>
          <a:custGeom>
            <a:avLst/>
            <a:gdLst/>
            <a:ahLst/>
            <a:cxnLst/>
            <a:rect r="r" b="b" t="t" l="l"/>
            <a:pathLst>
              <a:path h="1721765" w="2143464">
                <a:moveTo>
                  <a:pt x="0" y="0"/>
                </a:moveTo>
                <a:lnTo>
                  <a:pt x="2143464" y="0"/>
                </a:lnTo>
                <a:lnTo>
                  <a:pt x="2143464" y="1721765"/>
                </a:lnTo>
                <a:lnTo>
                  <a:pt x="0" y="1721765"/>
                </a:lnTo>
                <a:lnTo>
                  <a:pt x="0" y="0"/>
                </a:lnTo>
                <a:close/>
              </a:path>
            </a:pathLst>
          </a:custGeom>
          <a:blipFill>
            <a:blip r:embed="rId3"/>
            <a:stretch>
              <a:fillRect l="0" t="-56012" r="-21885" b="-56012"/>
            </a:stretch>
          </a:blipFill>
        </p:spPr>
      </p:sp>
      <p:sp>
        <p:nvSpPr>
          <p:cNvPr name="TextBox 14" id="14"/>
          <p:cNvSpPr txBox="true"/>
          <p:nvPr/>
        </p:nvSpPr>
        <p:spPr>
          <a:xfrm rot="0">
            <a:off x="3493688" y="3674132"/>
            <a:ext cx="757407"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una</a:t>
            </a:r>
          </a:p>
        </p:txBody>
      </p:sp>
      <p:sp>
        <p:nvSpPr>
          <p:cNvPr name="Freeform 15" id="15"/>
          <p:cNvSpPr/>
          <p:nvPr/>
        </p:nvSpPr>
        <p:spPr>
          <a:xfrm flipH="false" flipV="false" rot="0">
            <a:off x="15387602" y="2903317"/>
            <a:ext cx="2143464" cy="1721765"/>
          </a:xfrm>
          <a:custGeom>
            <a:avLst/>
            <a:gdLst/>
            <a:ahLst/>
            <a:cxnLst/>
            <a:rect r="r" b="b" t="t" l="l"/>
            <a:pathLst>
              <a:path h="1721765" w="2143464">
                <a:moveTo>
                  <a:pt x="0" y="0"/>
                </a:moveTo>
                <a:lnTo>
                  <a:pt x="2143464" y="0"/>
                </a:lnTo>
                <a:lnTo>
                  <a:pt x="2143464" y="1721765"/>
                </a:lnTo>
                <a:lnTo>
                  <a:pt x="0" y="1721765"/>
                </a:lnTo>
                <a:lnTo>
                  <a:pt x="0" y="0"/>
                </a:lnTo>
                <a:close/>
              </a:path>
            </a:pathLst>
          </a:custGeom>
          <a:blipFill>
            <a:blip r:embed="rId3"/>
            <a:stretch>
              <a:fillRect l="0" t="-56012" r="-21885" b="-56012"/>
            </a:stretch>
          </a:blipFill>
        </p:spPr>
      </p:sp>
      <p:sp>
        <p:nvSpPr>
          <p:cNvPr name="Freeform 16" id="16"/>
          <p:cNvSpPr/>
          <p:nvPr/>
        </p:nvSpPr>
        <p:spPr>
          <a:xfrm flipH="false" flipV="false" rot="0">
            <a:off x="5051195" y="2903317"/>
            <a:ext cx="2298352" cy="1721765"/>
          </a:xfrm>
          <a:custGeom>
            <a:avLst/>
            <a:gdLst/>
            <a:ahLst/>
            <a:cxnLst/>
            <a:rect r="r" b="b" t="t" l="l"/>
            <a:pathLst>
              <a:path h="1721765" w="2298352">
                <a:moveTo>
                  <a:pt x="0" y="0"/>
                </a:moveTo>
                <a:lnTo>
                  <a:pt x="2298352" y="0"/>
                </a:lnTo>
                <a:lnTo>
                  <a:pt x="2298352" y="1721765"/>
                </a:lnTo>
                <a:lnTo>
                  <a:pt x="0" y="1721765"/>
                </a:lnTo>
                <a:lnTo>
                  <a:pt x="0" y="0"/>
                </a:lnTo>
                <a:close/>
              </a:path>
            </a:pathLst>
          </a:custGeom>
          <a:blipFill>
            <a:blip r:embed="rId3"/>
            <a:stretch>
              <a:fillRect l="0" t="-56012" r="-13671" b="-56012"/>
            </a:stretch>
          </a:blipFill>
        </p:spPr>
      </p:sp>
      <p:sp>
        <p:nvSpPr>
          <p:cNvPr name="TextBox 17" id="17"/>
          <p:cNvSpPr txBox="true"/>
          <p:nvPr/>
        </p:nvSpPr>
        <p:spPr>
          <a:xfrm rot="0">
            <a:off x="5478570" y="3674132"/>
            <a:ext cx="1870976"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descripción</a:t>
            </a:r>
          </a:p>
        </p:txBody>
      </p:sp>
      <p:sp>
        <p:nvSpPr>
          <p:cNvPr name="Freeform 18" id="18"/>
          <p:cNvSpPr/>
          <p:nvPr/>
        </p:nvSpPr>
        <p:spPr>
          <a:xfrm flipH="false" flipV="false" rot="0">
            <a:off x="7635297" y="2903317"/>
            <a:ext cx="2298352" cy="1721765"/>
          </a:xfrm>
          <a:custGeom>
            <a:avLst/>
            <a:gdLst/>
            <a:ahLst/>
            <a:cxnLst/>
            <a:rect r="r" b="b" t="t" l="l"/>
            <a:pathLst>
              <a:path h="1721765" w="2298352">
                <a:moveTo>
                  <a:pt x="0" y="0"/>
                </a:moveTo>
                <a:lnTo>
                  <a:pt x="2298351" y="0"/>
                </a:lnTo>
                <a:lnTo>
                  <a:pt x="2298351" y="1721765"/>
                </a:lnTo>
                <a:lnTo>
                  <a:pt x="0" y="1721765"/>
                </a:lnTo>
                <a:lnTo>
                  <a:pt x="0" y="0"/>
                </a:lnTo>
                <a:close/>
              </a:path>
            </a:pathLst>
          </a:custGeom>
          <a:blipFill>
            <a:blip r:embed="rId3"/>
            <a:stretch>
              <a:fillRect l="0" t="-56012" r="-13671" b="-56012"/>
            </a:stretch>
          </a:blipFill>
        </p:spPr>
      </p:sp>
      <p:sp>
        <p:nvSpPr>
          <p:cNvPr name="TextBox 19" id="19"/>
          <p:cNvSpPr txBox="true"/>
          <p:nvPr/>
        </p:nvSpPr>
        <p:spPr>
          <a:xfrm rot="0">
            <a:off x="8188858" y="3674132"/>
            <a:ext cx="1668220"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detallada</a:t>
            </a:r>
          </a:p>
        </p:txBody>
      </p:sp>
      <p:sp>
        <p:nvSpPr>
          <p:cNvPr name="Freeform 20" id="20"/>
          <p:cNvSpPr/>
          <p:nvPr/>
        </p:nvSpPr>
        <p:spPr>
          <a:xfrm flipH="false" flipV="false" rot="0">
            <a:off x="10219398" y="2903317"/>
            <a:ext cx="2298352" cy="1721765"/>
          </a:xfrm>
          <a:custGeom>
            <a:avLst/>
            <a:gdLst/>
            <a:ahLst/>
            <a:cxnLst/>
            <a:rect r="r" b="b" t="t" l="l"/>
            <a:pathLst>
              <a:path h="1721765" w="2298352">
                <a:moveTo>
                  <a:pt x="0" y="0"/>
                </a:moveTo>
                <a:lnTo>
                  <a:pt x="2298352" y="0"/>
                </a:lnTo>
                <a:lnTo>
                  <a:pt x="2298352" y="1721765"/>
                </a:lnTo>
                <a:lnTo>
                  <a:pt x="0" y="1721765"/>
                </a:lnTo>
                <a:lnTo>
                  <a:pt x="0" y="0"/>
                </a:lnTo>
                <a:close/>
              </a:path>
            </a:pathLst>
          </a:custGeom>
          <a:blipFill>
            <a:blip r:embed="rId3"/>
            <a:stretch>
              <a:fillRect l="0" t="-56012" r="-13671" b="-56012"/>
            </a:stretch>
          </a:blipFill>
        </p:spPr>
      </p:sp>
      <p:sp>
        <p:nvSpPr>
          <p:cNvPr name="TextBox 21" id="21"/>
          <p:cNvSpPr txBox="true"/>
          <p:nvPr/>
        </p:nvSpPr>
        <p:spPr>
          <a:xfrm rot="0">
            <a:off x="11162373" y="3674132"/>
            <a:ext cx="532380"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de</a:t>
            </a:r>
          </a:p>
        </p:txBody>
      </p:sp>
      <p:sp>
        <p:nvSpPr>
          <p:cNvPr name="Freeform 22" id="22"/>
          <p:cNvSpPr/>
          <p:nvPr/>
        </p:nvSpPr>
        <p:spPr>
          <a:xfrm flipH="false" flipV="false" rot="0">
            <a:off x="12803500" y="2903317"/>
            <a:ext cx="2298352" cy="1721765"/>
          </a:xfrm>
          <a:custGeom>
            <a:avLst/>
            <a:gdLst/>
            <a:ahLst/>
            <a:cxnLst/>
            <a:rect r="r" b="b" t="t" l="l"/>
            <a:pathLst>
              <a:path h="1721765" w="2298352">
                <a:moveTo>
                  <a:pt x="0" y="0"/>
                </a:moveTo>
                <a:lnTo>
                  <a:pt x="2298352" y="0"/>
                </a:lnTo>
                <a:lnTo>
                  <a:pt x="2298352" y="1721765"/>
                </a:lnTo>
                <a:lnTo>
                  <a:pt x="0" y="1721765"/>
                </a:lnTo>
                <a:lnTo>
                  <a:pt x="0" y="0"/>
                </a:lnTo>
                <a:close/>
              </a:path>
            </a:pathLst>
          </a:custGeom>
          <a:blipFill>
            <a:blip r:embed="rId3"/>
            <a:stretch>
              <a:fillRect l="0" t="-56012" r="-13671" b="-56012"/>
            </a:stretch>
          </a:blipFill>
        </p:spPr>
      </p:sp>
      <p:sp>
        <p:nvSpPr>
          <p:cNvPr name="TextBox 23" id="23"/>
          <p:cNvSpPr txBox="true"/>
          <p:nvPr/>
        </p:nvSpPr>
        <p:spPr>
          <a:xfrm rot="0">
            <a:off x="13952676" y="3674132"/>
            <a:ext cx="532380"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la</a:t>
            </a:r>
          </a:p>
        </p:txBody>
      </p:sp>
      <p:sp>
        <p:nvSpPr>
          <p:cNvPr name="TextBox 24" id="24"/>
          <p:cNvSpPr txBox="true"/>
          <p:nvPr/>
        </p:nvSpPr>
        <p:spPr>
          <a:xfrm rot="0">
            <a:off x="15983706" y="3674132"/>
            <a:ext cx="1276689"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imagen</a:t>
            </a:r>
          </a:p>
        </p:txBody>
      </p:sp>
      <p:sp>
        <p:nvSpPr>
          <p:cNvPr name="TextBox 25" id="25"/>
          <p:cNvSpPr txBox="true"/>
          <p:nvPr/>
        </p:nvSpPr>
        <p:spPr>
          <a:xfrm rot="0">
            <a:off x="15492377" y="4820211"/>
            <a:ext cx="2194560" cy="323289"/>
          </a:xfrm>
          <a:prstGeom prst="rect">
            <a:avLst/>
          </a:prstGeom>
        </p:spPr>
        <p:txBody>
          <a:bodyPr anchor="t" rtlCol="false" tIns="0" lIns="0" bIns="0" rIns="0">
            <a:spAutoFit/>
          </a:bodyPr>
          <a:lstStyle/>
          <a:p>
            <a:pPr algn="ctr">
              <a:lnSpc>
                <a:spcPts val="2717"/>
              </a:lnSpc>
            </a:pPr>
            <a:r>
              <a:rPr lang="en-US" sz="1698">
                <a:solidFill>
                  <a:srgbClr val="FFFFFF"/>
                </a:solidFill>
                <a:latin typeface="Lexend Deca"/>
                <a:ea typeface="Lexend Deca"/>
                <a:cs typeface="Lexend Deca"/>
                <a:sym typeface="Lexend Deca"/>
              </a:rPr>
              <a:t>Token 7</a:t>
            </a:r>
          </a:p>
        </p:txBody>
      </p:sp>
      <p:sp>
        <p:nvSpPr>
          <p:cNvPr name="TextBox 26" id="26"/>
          <p:cNvSpPr txBox="true"/>
          <p:nvPr/>
        </p:nvSpPr>
        <p:spPr>
          <a:xfrm rot="0">
            <a:off x="420624" y="6117107"/>
            <a:ext cx="6949440" cy="375597"/>
          </a:xfrm>
          <a:prstGeom prst="rect">
            <a:avLst/>
          </a:prstGeom>
        </p:spPr>
        <p:txBody>
          <a:bodyPr anchor="t" rtlCol="false" tIns="0" lIns="0" bIns="0" rIns="0">
            <a:spAutoFit/>
          </a:bodyPr>
          <a:lstStyle/>
          <a:p>
            <a:pPr algn="l">
              <a:lnSpc>
                <a:spcPts val="2787"/>
              </a:lnSpc>
            </a:pPr>
            <a:r>
              <a:rPr lang="en-US" sz="2787" spc="-55">
                <a:solidFill>
                  <a:srgbClr val="F4534B"/>
                </a:solidFill>
                <a:latin typeface="Lexend Deca"/>
                <a:ea typeface="Lexend Deca"/>
                <a:cs typeface="Lexend Deca"/>
                <a:sym typeface="Lexend Deca"/>
              </a:rPr>
              <a:t>POR QUÉ SE TOKENIZA?</a:t>
            </a:r>
          </a:p>
        </p:txBody>
      </p:sp>
      <p:sp>
        <p:nvSpPr>
          <p:cNvPr name="TextBox 27" id="27"/>
          <p:cNvSpPr txBox="true"/>
          <p:nvPr/>
        </p:nvSpPr>
        <p:spPr>
          <a:xfrm rot="0">
            <a:off x="420624" y="6711778"/>
            <a:ext cx="17110442" cy="1217771"/>
          </a:xfrm>
          <a:prstGeom prst="rect">
            <a:avLst/>
          </a:prstGeom>
        </p:spPr>
        <p:txBody>
          <a:bodyPr anchor="t" rtlCol="false" tIns="0" lIns="0" bIns="0" rIns="0">
            <a:spAutoFit/>
          </a:bodyPr>
          <a:lstStyle/>
          <a:p>
            <a:pPr algn="just">
              <a:lnSpc>
                <a:spcPts val="3228"/>
              </a:lnSpc>
            </a:pPr>
            <a:r>
              <a:rPr lang="en-US" sz="2306">
                <a:solidFill>
                  <a:srgbClr val="FFFFFF"/>
                </a:solidFill>
                <a:latin typeface="Lexend Deca"/>
                <a:ea typeface="Lexend Deca"/>
                <a:cs typeface="Lexend Deca"/>
                <a:sym typeface="Lexend Deca"/>
              </a:rPr>
              <a:t>El Transformer no procesa directamente una oración completa como lenguaje humano. Primero la convierte en unidades llamadas tokens, que posteriormente pueden representarse matemáticamente y procesarse dentro de la red neuronal.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40080" y="880617"/>
            <a:ext cx="8010144" cy="1888490"/>
          </a:xfrm>
          <a:prstGeom prst="rect">
            <a:avLst/>
          </a:prstGeom>
        </p:spPr>
        <p:txBody>
          <a:bodyPr anchor="t" rtlCol="false" tIns="0" lIns="0" bIns="0" rIns="0">
            <a:spAutoFit/>
          </a:bodyPr>
          <a:lstStyle/>
          <a:p>
            <a:pPr algn="l">
              <a:lnSpc>
                <a:spcPts val="7360"/>
              </a:lnSpc>
            </a:pPr>
            <a:r>
              <a:rPr lang="en-US" sz="6400">
                <a:solidFill>
                  <a:srgbClr val="FFFFFF"/>
                </a:solidFill>
                <a:latin typeface="Lexend Deca"/>
                <a:ea typeface="Lexend Deca"/>
                <a:cs typeface="Lexend Deca"/>
                <a:sym typeface="Lexend Deca"/>
              </a:rPr>
              <a:t>DE LOS TOKENS AL SIGNIFICADO: </a:t>
            </a:r>
          </a:p>
        </p:txBody>
      </p:sp>
      <p:sp>
        <p:nvSpPr>
          <p:cNvPr name="TextBox 4" id="4"/>
          <p:cNvSpPr txBox="true"/>
          <p:nvPr/>
        </p:nvSpPr>
        <p:spPr>
          <a:xfrm rot="0">
            <a:off x="640080" y="2788157"/>
            <a:ext cx="7900416" cy="955040"/>
          </a:xfrm>
          <a:prstGeom prst="rect">
            <a:avLst/>
          </a:prstGeom>
        </p:spPr>
        <p:txBody>
          <a:bodyPr anchor="t" rtlCol="false" tIns="0" lIns="0" bIns="0" rIns="0">
            <a:spAutoFit/>
          </a:bodyPr>
          <a:lstStyle/>
          <a:p>
            <a:pPr algn="l">
              <a:lnSpc>
                <a:spcPts val="7360"/>
              </a:lnSpc>
            </a:pPr>
            <a:r>
              <a:rPr lang="en-US" sz="6400">
                <a:solidFill>
                  <a:srgbClr val="E64E3C"/>
                </a:solidFill>
                <a:latin typeface="Lexend Deca"/>
                <a:ea typeface="Lexend Deca"/>
                <a:cs typeface="Lexend Deca"/>
                <a:sym typeface="Lexend Deca"/>
              </a:rPr>
              <a:t>EMBEDDINGS</a:t>
            </a:r>
          </a:p>
        </p:txBody>
      </p:sp>
      <p:sp>
        <p:nvSpPr>
          <p:cNvPr name="TextBox 5" id="5"/>
          <p:cNvSpPr txBox="true"/>
          <p:nvPr/>
        </p:nvSpPr>
        <p:spPr>
          <a:xfrm rot="0">
            <a:off x="640080" y="5057775"/>
            <a:ext cx="5040368" cy="4095776"/>
          </a:xfrm>
          <a:prstGeom prst="rect">
            <a:avLst/>
          </a:prstGeom>
        </p:spPr>
        <p:txBody>
          <a:bodyPr anchor="t" rtlCol="false" tIns="0" lIns="0" bIns="0" rIns="0">
            <a:spAutoFit/>
          </a:bodyPr>
          <a:lstStyle/>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Analiza</a:t>
            </a:r>
          </a:p>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Imágen</a:t>
            </a:r>
          </a:p>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Identifica</a:t>
            </a:r>
          </a:p>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Elementos</a:t>
            </a:r>
          </a:p>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Principales</a:t>
            </a:r>
          </a:p>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Descripbe</a:t>
            </a:r>
          </a:p>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Genera</a:t>
            </a:r>
          </a:p>
          <a:p>
            <a:pPr algn="l" marL="593580" indent="-296790" lvl="1">
              <a:lnSpc>
                <a:spcPts val="4123"/>
              </a:lnSpc>
              <a:buFont typeface="Arial"/>
              <a:buChar char="•"/>
            </a:pPr>
            <a:r>
              <a:rPr lang="en-US" sz="2749">
                <a:solidFill>
                  <a:srgbClr val="FFFFFF"/>
                </a:solidFill>
                <a:latin typeface="Lexend Deca"/>
                <a:ea typeface="Lexend Deca"/>
                <a:cs typeface="Lexend Deca"/>
                <a:sym typeface="Lexend Deca"/>
              </a:rPr>
              <a:t>Detallada</a:t>
            </a:r>
          </a:p>
        </p:txBody>
      </p:sp>
      <p:sp>
        <p:nvSpPr>
          <p:cNvPr name="TextBox 6" id="6"/>
          <p:cNvSpPr txBox="true"/>
          <p:nvPr/>
        </p:nvSpPr>
        <p:spPr>
          <a:xfrm rot="0">
            <a:off x="640080" y="4484122"/>
            <a:ext cx="6949440" cy="378137"/>
          </a:xfrm>
          <a:prstGeom prst="rect">
            <a:avLst/>
          </a:prstGeom>
        </p:spPr>
        <p:txBody>
          <a:bodyPr anchor="t" rtlCol="false" tIns="0" lIns="0" bIns="0" rIns="0">
            <a:spAutoFit/>
          </a:bodyPr>
          <a:lstStyle/>
          <a:p>
            <a:pPr algn="l">
              <a:lnSpc>
                <a:spcPts val="2887"/>
              </a:lnSpc>
            </a:pPr>
            <a:r>
              <a:rPr lang="en-US" sz="2887" spc="-57">
                <a:solidFill>
                  <a:srgbClr val="F4534B"/>
                </a:solidFill>
                <a:latin typeface="Lexend Deca"/>
                <a:ea typeface="Lexend Deca"/>
                <a:cs typeface="Lexend Deca"/>
                <a:sym typeface="Lexend Deca"/>
              </a:rPr>
              <a:t>CONCEPTOS SELECCIONADOS:</a:t>
            </a:r>
          </a:p>
        </p:txBody>
      </p:sp>
      <p:sp>
        <p:nvSpPr>
          <p:cNvPr name="TextBox 7" id="7"/>
          <p:cNvSpPr txBox="true"/>
          <p:nvPr/>
        </p:nvSpPr>
        <p:spPr>
          <a:xfrm rot="0">
            <a:off x="9144000" y="1076325"/>
            <a:ext cx="6949440" cy="375597"/>
          </a:xfrm>
          <a:prstGeom prst="rect">
            <a:avLst/>
          </a:prstGeom>
        </p:spPr>
        <p:txBody>
          <a:bodyPr anchor="t" rtlCol="false" tIns="0" lIns="0" bIns="0" rIns="0">
            <a:spAutoFit/>
          </a:bodyPr>
          <a:lstStyle/>
          <a:p>
            <a:pPr algn="l">
              <a:lnSpc>
                <a:spcPts val="2787"/>
              </a:lnSpc>
            </a:pPr>
            <a:r>
              <a:rPr lang="en-US" sz="2787" spc="-55">
                <a:solidFill>
                  <a:srgbClr val="F4534B"/>
                </a:solidFill>
                <a:latin typeface="Lexend Deca"/>
                <a:ea typeface="Lexend Deca"/>
                <a:cs typeface="Lexend Deca"/>
                <a:sym typeface="Lexend Deca"/>
              </a:rPr>
              <a:t>MAPA SEMÁNTICO:</a:t>
            </a:r>
          </a:p>
        </p:txBody>
      </p:sp>
      <p:sp>
        <p:nvSpPr>
          <p:cNvPr name="TextBox 8" id="8"/>
          <p:cNvSpPr txBox="true"/>
          <p:nvPr/>
        </p:nvSpPr>
        <p:spPr>
          <a:xfrm rot="0">
            <a:off x="8650224" y="6196309"/>
            <a:ext cx="7584174" cy="728022"/>
          </a:xfrm>
          <a:prstGeom prst="rect">
            <a:avLst/>
          </a:prstGeom>
        </p:spPr>
        <p:txBody>
          <a:bodyPr anchor="t" rtlCol="false" tIns="0" lIns="0" bIns="0" rIns="0">
            <a:spAutoFit/>
          </a:bodyPr>
          <a:lstStyle/>
          <a:p>
            <a:pPr algn="l">
              <a:lnSpc>
                <a:spcPts val="2787"/>
              </a:lnSpc>
            </a:pPr>
            <a:r>
              <a:rPr lang="en-US" sz="2787" spc="-55">
                <a:solidFill>
                  <a:srgbClr val="F4534B"/>
                </a:solidFill>
                <a:latin typeface="Lexend Deca"/>
                <a:ea typeface="Lexend Deca"/>
                <a:cs typeface="Lexend Deca"/>
                <a:sym typeface="Lexend Deca"/>
              </a:rPr>
              <a:t>¿CÓMO AYUDARÍAN ESTAS RELACIONES SEMÁNTICAS AL MODELO?</a:t>
            </a:r>
          </a:p>
        </p:txBody>
      </p:sp>
      <p:sp>
        <p:nvSpPr>
          <p:cNvPr name="TextBox 9" id="9"/>
          <p:cNvSpPr txBox="true"/>
          <p:nvPr/>
        </p:nvSpPr>
        <p:spPr>
          <a:xfrm rot="0">
            <a:off x="9337777" y="1572437"/>
            <a:ext cx="7233969" cy="4265320"/>
          </a:xfrm>
          <a:prstGeom prst="rect">
            <a:avLst/>
          </a:prstGeom>
        </p:spPr>
        <p:txBody>
          <a:bodyPr anchor="t" rtlCol="false" tIns="0" lIns="0" bIns="0" rIns="0">
            <a:spAutoFit/>
          </a:bodyPr>
          <a:lstStyle/>
          <a:p>
            <a:pPr algn="l">
              <a:lnSpc>
                <a:spcPts val="3823"/>
              </a:lnSpc>
            </a:pPr>
            <a:r>
              <a:rPr lang="en-US" sz="2549">
                <a:solidFill>
                  <a:srgbClr val="FFFFFF"/>
                </a:solidFill>
                <a:latin typeface="Lexend Deca"/>
                <a:ea typeface="Lexend Deca"/>
                <a:cs typeface="Lexend Deca"/>
                <a:sym typeface="Lexend Deca"/>
              </a:rPr>
              <a:t>                            IMAGEN</a:t>
            </a:r>
          </a:p>
          <a:p>
            <a:pPr algn="l">
              <a:lnSpc>
                <a:spcPts val="3823"/>
              </a:lnSpc>
            </a:pPr>
            <a:r>
              <a:rPr lang="en-US" sz="2549">
                <a:solidFill>
                  <a:srgbClr val="FFFFFF"/>
                </a:solidFill>
                <a:latin typeface="Lexend Deca"/>
                <a:ea typeface="Lexend Deca"/>
                <a:cs typeface="Lexend Deca"/>
                <a:sym typeface="Lexend Deca"/>
              </a:rPr>
              <a:t>                           /      |        \</a:t>
            </a:r>
          </a:p>
          <a:p>
            <a:pPr algn="l">
              <a:lnSpc>
                <a:spcPts val="3823"/>
              </a:lnSpc>
            </a:pPr>
            <a:r>
              <a:rPr lang="en-US" sz="2549">
                <a:solidFill>
                  <a:srgbClr val="FFFFFF"/>
                </a:solidFill>
                <a:latin typeface="Lexend Deca"/>
                <a:ea typeface="Lexend Deca"/>
                <a:cs typeface="Lexend Deca"/>
                <a:sym typeface="Lexend Deca"/>
              </a:rPr>
              <a:t>                        /         |           \</a:t>
            </a:r>
          </a:p>
          <a:p>
            <a:pPr algn="l">
              <a:lnSpc>
                <a:spcPts val="3823"/>
              </a:lnSpc>
            </a:pPr>
            <a:r>
              <a:rPr lang="en-US" sz="2549">
                <a:solidFill>
                  <a:srgbClr val="FFFFFF"/>
                </a:solidFill>
                <a:latin typeface="Lexend Deca"/>
                <a:ea typeface="Lexend Deca"/>
                <a:cs typeface="Lexend Deca"/>
                <a:sym typeface="Lexend Deca"/>
              </a:rPr>
              <a:t>        </a:t>
            </a:r>
            <a:r>
              <a:rPr lang="en-US" sz="2549">
                <a:solidFill>
                  <a:srgbClr val="FFFFFF"/>
                </a:solidFill>
                <a:latin typeface="Lexend Deca"/>
                <a:ea typeface="Lexend Deca"/>
                <a:cs typeface="Lexend Deca"/>
                <a:sym typeface="Lexend Deca"/>
              </a:rPr>
              <a:t>CONTIENE MUESTRA PRESENTA</a:t>
            </a:r>
          </a:p>
          <a:p>
            <a:pPr algn="l">
              <a:lnSpc>
                <a:spcPts val="3823"/>
              </a:lnSpc>
            </a:pPr>
            <a:r>
              <a:rPr lang="en-US" sz="2549">
                <a:solidFill>
                  <a:srgbClr val="FFFFFF"/>
                </a:solidFill>
                <a:latin typeface="Lexend Deca"/>
                <a:ea typeface="Lexend Deca"/>
                <a:cs typeface="Lexend Deca"/>
                <a:sym typeface="Lexend Deca"/>
              </a:rPr>
              <a:t>                ↓              ↓                      ↓</a:t>
            </a:r>
          </a:p>
          <a:p>
            <a:pPr algn="l">
              <a:lnSpc>
                <a:spcPts val="3823"/>
              </a:lnSpc>
            </a:pPr>
            <a:r>
              <a:rPr lang="en-US" sz="2549">
                <a:solidFill>
                  <a:srgbClr val="FFFFFF"/>
                </a:solidFill>
                <a:latin typeface="Lexend Deca"/>
                <a:ea typeface="Lexend Deca"/>
                <a:cs typeface="Lexend Deca"/>
                <a:sym typeface="Lexend Deca"/>
              </a:rPr>
              <a:t>      OBJETOS → ACCIONES → ENTORNO</a:t>
            </a:r>
          </a:p>
          <a:p>
            <a:pPr algn="l">
              <a:lnSpc>
                <a:spcPts val="3823"/>
              </a:lnSpc>
            </a:pPr>
            <a:r>
              <a:rPr lang="en-US" sz="2549">
                <a:solidFill>
                  <a:srgbClr val="FFFFFF"/>
                </a:solidFill>
                <a:latin typeface="Lexend Deca"/>
                <a:ea typeface="Lexend Deca"/>
                <a:cs typeface="Lexend Deca"/>
                <a:sym typeface="Lexend Deca"/>
              </a:rPr>
              <a:t>                   \              |                    /</a:t>
            </a:r>
          </a:p>
          <a:p>
            <a:pPr algn="l">
              <a:lnSpc>
                <a:spcPts val="3823"/>
              </a:lnSpc>
            </a:pPr>
            <a:r>
              <a:rPr lang="en-US" sz="2549">
                <a:solidFill>
                  <a:srgbClr val="FFFFFF"/>
                </a:solidFill>
                <a:latin typeface="Lexend Deca"/>
                <a:ea typeface="Lexend Deca"/>
                <a:cs typeface="Lexend Deca"/>
                <a:sym typeface="Lexend Deca"/>
              </a:rPr>
              <a:t>                     \           ↓                /</a:t>
            </a:r>
          </a:p>
          <a:p>
            <a:pPr algn="l">
              <a:lnSpc>
                <a:spcPts val="3823"/>
              </a:lnSpc>
            </a:pPr>
            <a:r>
              <a:rPr lang="en-US" sz="2549">
                <a:solidFill>
                  <a:srgbClr val="FFFFFF"/>
                </a:solidFill>
                <a:latin typeface="Lexend Deca"/>
                <a:ea typeface="Lexend Deca"/>
                <a:cs typeface="Lexend Deca"/>
                <a:sym typeface="Lexend Deca"/>
              </a:rPr>
              <a:t>                        DESCRIPCIÓN</a:t>
            </a:r>
          </a:p>
        </p:txBody>
      </p:sp>
      <p:sp>
        <p:nvSpPr>
          <p:cNvPr name="TextBox 10" id="10"/>
          <p:cNvSpPr txBox="true"/>
          <p:nvPr/>
        </p:nvSpPr>
        <p:spPr>
          <a:xfrm rot="0">
            <a:off x="8650224" y="7057681"/>
            <a:ext cx="8609076" cy="2076475"/>
          </a:xfrm>
          <a:prstGeom prst="rect">
            <a:avLst/>
          </a:prstGeom>
        </p:spPr>
        <p:txBody>
          <a:bodyPr anchor="t" rtlCol="false" tIns="0" lIns="0" bIns="0" rIns="0">
            <a:spAutoFit/>
          </a:bodyPr>
          <a:lstStyle/>
          <a:p>
            <a:pPr algn="just">
              <a:lnSpc>
                <a:spcPts val="3374"/>
              </a:lnSpc>
            </a:pPr>
            <a:r>
              <a:rPr lang="en-US" sz="2249">
                <a:solidFill>
                  <a:srgbClr val="FFFFFF"/>
                </a:solidFill>
                <a:latin typeface="Lexend Deca"/>
                <a:ea typeface="Lexend Deca"/>
                <a:cs typeface="Lexend Deca"/>
                <a:sym typeface="Lexend Deca"/>
              </a:rPr>
              <a:t>Permiten que el modelo no interprete los conceptos de forma aislada, sino como elementos relacionados dentro de una escena. Así puede comprender qué objetos aparecen, qué acciones realizan, dónde ocurren y cómo debe integrar esa información en una descripción coherente.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40080" y="828988"/>
            <a:ext cx="16993610" cy="736600"/>
          </a:xfrm>
          <a:prstGeom prst="rect">
            <a:avLst/>
          </a:prstGeom>
        </p:spPr>
        <p:txBody>
          <a:bodyPr anchor="t" rtlCol="false" tIns="0" lIns="0" bIns="0" rIns="0">
            <a:spAutoFit/>
          </a:bodyPr>
          <a:lstStyle/>
          <a:p>
            <a:pPr algn="l">
              <a:lnSpc>
                <a:spcPts val="5750"/>
              </a:lnSpc>
            </a:pPr>
            <a:r>
              <a:rPr lang="en-US" sz="5000">
                <a:solidFill>
                  <a:srgbClr val="FFFFFF"/>
                </a:solidFill>
                <a:latin typeface="Lexend Deca"/>
                <a:ea typeface="Lexend Deca"/>
                <a:cs typeface="Lexend Deca"/>
                <a:sym typeface="Lexend Deca"/>
              </a:rPr>
              <a:t>¿A QUÉ DEBE PRESTAR ATENCIÓN EL </a:t>
            </a:r>
            <a:r>
              <a:rPr lang="en-US" sz="5000">
                <a:solidFill>
                  <a:srgbClr val="F4534B"/>
                </a:solidFill>
                <a:latin typeface="Lexend Deca"/>
                <a:ea typeface="Lexend Deca"/>
                <a:cs typeface="Lexend Deca"/>
                <a:sym typeface="Lexend Deca"/>
              </a:rPr>
              <a:t>MODELO</a:t>
            </a:r>
            <a:r>
              <a:rPr lang="en-US" sz="5000">
                <a:solidFill>
                  <a:srgbClr val="FFFFFF"/>
                </a:solidFill>
                <a:latin typeface="Lexend Deca"/>
                <a:ea typeface="Lexend Deca"/>
                <a:cs typeface="Lexend Deca"/>
                <a:sym typeface="Lexend Deca"/>
              </a:rPr>
              <a:t>?</a:t>
            </a:r>
          </a:p>
        </p:txBody>
      </p:sp>
      <p:sp>
        <p:nvSpPr>
          <p:cNvPr name="TextBox 4" id="4"/>
          <p:cNvSpPr txBox="true"/>
          <p:nvPr/>
        </p:nvSpPr>
        <p:spPr>
          <a:xfrm rot="0">
            <a:off x="1028700" y="2087579"/>
            <a:ext cx="5040368" cy="2411756"/>
          </a:xfrm>
          <a:prstGeom prst="rect">
            <a:avLst/>
          </a:prstGeom>
        </p:spPr>
        <p:txBody>
          <a:bodyPr anchor="t" rtlCol="false" tIns="0" lIns="0" bIns="0" rIns="0">
            <a:spAutoFit/>
          </a:bodyPr>
          <a:lstStyle/>
          <a:p>
            <a:pPr algn="l">
              <a:lnSpc>
                <a:spcPts val="4273"/>
              </a:lnSpc>
            </a:pPr>
            <a:r>
              <a:rPr lang="en-US" sz="2849">
                <a:solidFill>
                  <a:srgbClr val="F4534B"/>
                </a:solidFill>
                <a:latin typeface="Lexend Deca"/>
                <a:ea typeface="Lexend Deca"/>
                <a:cs typeface="Lexend Deca"/>
                <a:sym typeface="Lexend Deca"/>
              </a:rPr>
              <a:t>Alta relevancia</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Analiza la imagen</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Identifica los objetos</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Describe las acciones</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Genera una descipción</a:t>
            </a:r>
          </a:p>
        </p:txBody>
      </p:sp>
      <p:sp>
        <p:nvSpPr>
          <p:cNvPr name="TextBox 5" id="5"/>
          <p:cNvSpPr txBox="true"/>
          <p:nvPr/>
        </p:nvSpPr>
        <p:spPr>
          <a:xfrm rot="0">
            <a:off x="6344011" y="2087579"/>
            <a:ext cx="3504872" cy="1935506"/>
          </a:xfrm>
          <a:prstGeom prst="rect">
            <a:avLst/>
          </a:prstGeom>
        </p:spPr>
        <p:txBody>
          <a:bodyPr anchor="t" rtlCol="false" tIns="0" lIns="0" bIns="0" rIns="0">
            <a:spAutoFit/>
          </a:bodyPr>
          <a:lstStyle/>
          <a:p>
            <a:pPr algn="l">
              <a:lnSpc>
                <a:spcPts val="4273"/>
              </a:lnSpc>
            </a:pPr>
            <a:r>
              <a:rPr lang="en-US" sz="2849">
                <a:solidFill>
                  <a:srgbClr val="F4534B"/>
                </a:solidFill>
                <a:latin typeface="Lexend Deca"/>
                <a:ea typeface="Lexend Deca"/>
                <a:cs typeface="Lexend Deca"/>
                <a:sym typeface="Lexend Deca"/>
              </a:rPr>
              <a:t>Relevancia media</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Detallada</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Clara</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En español</a:t>
            </a:r>
          </a:p>
        </p:txBody>
      </p:sp>
      <p:sp>
        <p:nvSpPr>
          <p:cNvPr name="TextBox 6" id="6"/>
          <p:cNvSpPr txBox="true"/>
          <p:nvPr/>
        </p:nvSpPr>
        <p:spPr>
          <a:xfrm rot="0">
            <a:off x="10420224" y="2087579"/>
            <a:ext cx="5040368" cy="2411756"/>
          </a:xfrm>
          <a:prstGeom prst="rect">
            <a:avLst/>
          </a:prstGeom>
        </p:spPr>
        <p:txBody>
          <a:bodyPr anchor="t" rtlCol="false" tIns="0" lIns="0" bIns="0" rIns="0">
            <a:spAutoFit/>
          </a:bodyPr>
          <a:lstStyle/>
          <a:p>
            <a:pPr algn="l">
              <a:lnSpc>
                <a:spcPts val="4273"/>
              </a:lnSpc>
            </a:pPr>
            <a:r>
              <a:rPr lang="en-US" sz="2849">
                <a:solidFill>
                  <a:srgbClr val="F4534B"/>
                </a:solidFill>
                <a:latin typeface="Lexend Deca"/>
                <a:ea typeface="Lexend Deca"/>
                <a:cs typeface="Lexend Deca"/>
                <a:sym typeface="Lexend Deca"/>
              </a:rPr>
              <a:t>Baja relevancia</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Palabras auxiliares</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Artículos</a:t>
            </a:r>
          </a:p>
          <a:p>
            <a:pPr algn="l" marL="550401" indent="-275200" lvl="1">
              <a:lnSpc>
                <a:spcPts val="3823"/>
              </a:lnSpc>
              <a:buFont typeface="Arial"/>
              <a:buChar char="•"/>
            </a:pPr>
            <a:r>
              <a:rPr lang="en-US" sz="2549">
                <a:solidFill>
                  <a:srgbClr val="FFFFFF"/>
                </a:solidFill>
                <a:latin typeface="Lexend Deca"/>
                <a:ea typeface="Lexend Deca"/>
                <a:cs typeface="Lexend Deca"/>
                <a:sym typeface="Lexend Deca"/>
              </a:rPr>
              <a:t>Elementos sin impacto directo en la intención</a:t>
            </a:r>
          </a:p>
        </p:txBody>
      </p:sp>
      <p:sp>
        <p:nvSpPr>
          <p:cNvPr name="TextBox 7" id="7"/>
          <p:cNvSpPr txBox="true"/>
          <p:nvPr/>
        </p:nvSpPr>
        <p:spPr>
          <a:xfrm rot="0">
            <a:off x="1177558" y="5517530"/>
            <a:ext cx="6325080" cy="501041"/>
          </a:xfrm>
          <a:prstGeom prst="rect">
            <a:avLst/>
          </a:prstGeom>
        </p:spPr>
        <p:txBody>
          <a:bodyPr anchor="t" rtlCol="false" tIns="0" lIns="0" bIns="0" rIns="0">
            <a:spAutoFit/>
          </a:bodyPr>
          <a:lstStyle/>
          <a:p>
            <a:pPr algn="ctr">
              <a:lnSpc>
                <a:spcPts val="4273"/>
              </a:lnSpc>
              <a:spcBef>
                <a:spcPct val="0"/>
              </a:spcBef>
            </a:pPr>
            <a:r>
              <a:rPr lang="en-US" sz="2849">
                <a:solidFill>
                  <a:srgbClr val="F4534B"/>
                </a:solidFill>
                <a:latin typeface="Lexend Deca"/>
                <a:ea typeface="Lexend Deca"/>
                <a:cs typeface="Lexend Deca"/>
                <a:sym typeface="Lexend Deca"/>
              </a:rPr>
              <a:t>¿Qué información debería ignorar?</a:t>
            </a:r>
          </a:p>
        </p:txBody>
      </p:sp>
      <p:sp>
        <p:nvSpPr>
          <p:cNvPr name="TextBox 8" id="8"/>
          <p:cNvSpPr txBox="true"/>
          <p:nvPr/>
        </p:nvSpPr>
        <p:spPr>
          <a:xfrm rot="0">
            <a:off x="1177558" y="6167957"/>
            <a:ext cx="15095103" cy="173656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Información irrelevante para la descripción visual, instrucciones contradictorias o elementos que no contribuyan a comprender la escena.</a:t>
            </a:r>
          </a:p>
          <a:p>
            <a:pPr algn="just">
              <a:lnSpc>
                <a:spcPts val="3508"/>
              </a:lnSpc>
            </a:pPr>
          </a:p>
          <a:p>
            <a:pPr algn="just">
              <a:lnSpc>
                <a:spcPts val="3508"/>
              </a:lnSpc>
            </a:pPr>
            <a:r>
              <a:rPr lang="en-US" sz="2506">
                <a:solidFill>
                  <a:srgbClr val="FFFFFF"/>
                </a:solidFill>
                <a:latin typeface="Lexend Deca"/>
                <a:ea typeface="Lexend Deca"/>
                <a:cs typeface="Lexend Deca"/>
                <a:sym typeface="Lexend Deca"/>
              </a:rPr>
              <a:t>Estos explica de forma visual el mecanismo de </a:t>
            </a:r>
            <a:r>
              <a:rPr lang="en-US" sz="2506">
                <a:solidFill>
                  <a:srgbClr val="F4534B"/>
                </a:solidFill>
                <a:latin typeface="Lexend Deca"/>
                <a:ea typeface="Lexend Deca"/>
                <a:cs typeface="Lexend Deca"/>
                <a:sym typeface="Lexend Deca"/>
              </a:rPr>
              <a:t>attention</a:t>
            </a:r>
            <a:r>
              <a:rPr lang="en-US" sz="2506">
                <a:solidFill>
                  <a:srgbClr val="FFFFFF"/>
                </a:solidFill>
                <a:latin typeface="Lexend Deca"/>
                <a:ea typeface="Lexend Deca"/>
                <a:cs typeface="Lexend Deca"/>
                <a:sym typeface="Lexend Deca"/>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206853" y="2585905"/>
            <a:ext cx="6041318" cy="3610304"/>
          </a:xfrm>
          <a:custGeom>
            <a:avLst/>
            <a:gdLst/>
            <a:ahLst/>
            <a:cxnLst/>
            <a:rect r="r" b="b" t="t" l="l"/>
            <a:pathLst>
              <a:path h="3610304" w="6041318">
                <a:moveTo>
                  <a:pt x="0" y="0"/>
                </a:moveTo>
                <a:lnTo>
                  <a:pt x="6041317" y="0"/>
                </a:lnTo>
                <a:lnTo>
                  <a:pt x="6041317" y="3610304"/>
                </a:lnTo>
                <a:lnTo>
                  <a:pt x="0" y="3610304"/>
                </a:lnTo>
                <a:lnTo>
                  <a:pt x="0" y="0"/>
                </a:lnTo>
                <a:close/>
              </a:path>
            </a:pathLst>
          </a:custGeom>
          <a:blipFill>
            <a:blip r:embed="rId3"/>
            <a:stretch>
              <a:fillRect l="0" t="0" r="0" b="0"/>
            </a:stretch>
          </a:blipFill>
        </p:spPr>
      </p:sp>
      <p:sp>
        <p:nvSpPr>
          <p:cNvPr name="Freeform 4" id="4"/>
          <p:cNvSpPr/>
          <p:nvPr/>
        </p:nvSpPr>
        <p:spPr>
          <a:xfrm flipH="false" flipV="false" rot="0">
            <a:off x="435429" y="7670908"/>
            <a:ext cx="17417143" cy="1928812"/>
          </a:xfrm>
          <a:custGeom>
            <a:avLst/>
            <a:gdLst/>
            <a:ahLst/>
            <a:cxnLst/>
            <a:rect r="r" b="b" t="t" l="l"/>
            <a:pathLst>
              <a:path h="1928812" w="17417143">
                <a:moveTo>
                  <a:pt x="0" y="0"/>
                </a:moveTo>
                <a:lnTo>
                  <a:pt x="17417142" y="0"/>
                </a:lnTo>
                <a:lnTo>
                  <a:pt x="17417142" y="1928813"/>
                </a:lnTo>
                <a:lnTo>
                  <a:pt x="0" y="1928813"/>
                </a:lnTo>
                <a:lnTo>
                  <a:pt x="0" y="0"/>
                </a:lnTo>
                <a:close/>
              </a:path>
            </a:pathLst>
          </a:custGeom>
          <a:blipFill>
            <a:blip r:embed="rId4"/>
            <a:stretch>
              <a:fillRect l="0" t="0" r="0" b="0"/>
            </a:stretch>
          </a:blipFill>
        </p:spPr>
      </p:sp>
      <p:grpSp>
        <p:nvGrpSpPr>
          <p:cNvPr name="Group 5" id="5"/>
          <p:cNvGrpSpPr/>
          <p:nvPr/>
        </p:nvGrpSpPr>
        <p:grpSpPr>
          <a:xfrm rot="0">
            <a:off x="10847954" y="1968287"/>
            <a:ext cx="6731465" cy="4617588"/>
            <a:chOff x="0" y="0"/>
            <a:chExt cx="2056929" cy="1410993"/>
          </a:xfrm>
        </p:grpSpPr>
        <p:sp>
          <p:nvSpPr>
            <p:cNvPr name="Freeform 6" id="6"/>
            <p:cNvSpPr/>
            <p:nvPr/>
          </p:nvSpPr>
          <p:spPr>
            <a:xfrm flipH="false" flipV="false" rot="0">
              <a:off x="0" y="0"/>
              <a:ext cx="2056929" cy="1410993"/>
            </a:xfrm>
            <a:custGeom>
              <a:avLst/>
              <a:gdLst/>
              <a:ahLst/>
              <a:cxnLst/>
              <a:rect r="r" b="b" t="t" l="l"/>
              <a:pathLst>
                <a:path h="1410993" w="2056929">
                  <a:moveTo>
                    <a:pt x="14951" y="0"/>
                  </a:moveTo>
                  <a:lnTo>
                    <a:pt x="2041977" y="0"/>
                  </a:lnTo>
                  <a:cubicBezTo>
                    <a:pt x="2045943" y="0"/>
                    <a:pt x="2049745" y="1575"/>
                    <a:pt x="2052549" y="4379"/>
                  </a:cubicBezTo>
                  <a:cubicBezTo>
                    <a:pt x="2055353" y="7183"/>
                    <a:pt x="2056929" y="10986"/>
                    <a:pt x="2056929" y="14951"/>
                  </a:cubicBezTo>
                  <a:lnTo>
                    <a:pt x="2056929" y="1396041"/>
                  </a:lnTo>
                  <a:cubicBezTo>
                    <a:pt x="2056929" y="1404299"/>
                    <a:pt x="2050235" y="1410993"/>
                    <a:pt x="2041977" y="1410993"/>
                  </a:cubicBezTo>
                  <a:lnTo>
                    <a:pt x="14951" y="1410993"/>
                  </a:lnTo>
                  <a:cubicBezTo>
                    <a:pt x="10986" y="1410993"/>
                    <a:pt x="7183" y="1409417"/>
                    <a:pt x="4379" y="1406613"/>
                  </a:cubicBezTo>
                  <a:cubicBezTo>
                    <a:pt x="1575" y="1403810"/>
                    <a:pt x="0" y="1400007"/>
                    <a:pt x="0" y="1396041"/>
                  </a:cubicBezTo>
                  <a:lnTo>
                    <a:pt x="0" y="14951"/>
                  </a:lnTo>
                  <a:cubicBezTo>
                    <a:pt x="0" y="10986"/>
                    <a:pt x="1575" y="7183"/>
                    <a:pt x="4379" y="4379"/>
                  </a:cubicBezTo>
                  <a:cubicBezTo>
                    <a:pt x="7183" y="1575"/>
                    <a:pt x="10986" y="0"/>
                    <a:pt x="14951" y="0"/>
                  </a:cubicBezTo>
                  <a:close/>
                </a:path>
              </a:pathLst>
            </a:custGeom>
            <a:solidFill>
              <a:srgbClr val="1F2734"/>
            </a:solidFill>
          </p:spPr>
        </p:sp>
        <p:sp>
          <p:nvSpPr>
            <p:cNvPr name="TextBox 7" id="7"/>
            <p:cNvSpPr txBox="true"/>
            <p:nvPr/>
          </p:nvSpPr>
          <p:spPr>
            <a:xfrm>
              <a:off x="0" y="-47625"/>
              <a:ext cx="2056929" cy="1458618"/>
            </a:xfrm>
            <a:prstGeom prst="rect">
              <a:avLst/>
            </a:prstGeom>
          </p:spPr>
          <p:txBody>
            <a:bodyPr anchor="ctr" rtlCol="false" tIns="50800" lIns="50800" bIns="50800" rIns="50800"/>
            <a:lstStyle/>
            <a:p>
              <a:pPr algn="ctr">
                <a:lnSpc>
                  <a:spcPts val="3508"/>
                </a:lnSpc>
              </a:pPr>
            </a:p>
          </p:txBody>
        </p:sp>
      </p:grpSp>
      <p:graphicFrame>
        <p:nvGraphicFramePr>
          <p:cNvPr name="Table 8" id="8"/>
          <p:cNvGraphicFramePr>
            <a:graphicFrameLocks noGrp="true"/>
          </p:cNvGraphicFramePr>
          <p:nvPr/>
        </p:nvGraphicFramePr>
        <p:xfrm>
          <a:off x="11061148" y="2113816"/>
          <a:ext cx="6305076" cy="4333552"/>
        </p:xfrm>
        <a:graphic>
          <a:graphicData uri="http://schemas.openxmlformats.org/drawingml/2006/table">
            <a:tbl>
              <a:tblPr/>
              <a:tblGrid>
                <a:gridCol w="3164246"/>
                <a:gridCol w="3140830"/>
              </a:tblGrid>
              <a:tr h="810697">
                <a:tc>
                  <a:txBody>
                    <a:bodyPr anchor="t" rtlCol="false"/>
                    <a:lstStyle/>
                    <a:p>
                      <a:pPr algn="ctr">
                        <a:lnSpc>
                          <a:spcPts val="2739"/>
                        </a:lnSpc>
                        <a:defRPr/>
                      </a:pPr>
                      <a:r>
                        <a:rPr lang="en-US" sz="1956">
                          <a:solidFill>
                            <a:srgbClr val="FF573B"/>
                          </a:solidFill>
                          <a:latin typeface="Lexend Deca"/>
                          <a:ea typeface="Lexend Deca"/>
                          <a:cs typeface="Lexend Deca"/>
                          <a:sym typeface="Lexend Deca"/>
                        </a:rPr>
                        <a:t>Posible token</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c>
                  <a:txBody>
                    <a:bodyPr anchor="t" rtlCol="false"/>
                    <a:lstStyle/>
                    <a:p>
                      <a:pPr algn="ctr">
                        <a:lnSpc>
                          <a:spcPts val="2739"/>
                        </a:lnSpc>
                        <a:defRPr/>
                      </a:pPr>
                      <a:r>
                        <a:rPr lang="en-US" sz="1956">
                          <a:solidFill>
                            <a:srgbClr val="FF573B"/>
                          </a:solidFill>
                          <a:latin typeface="Lexend Deca"/>
                          <a:ea typeface="Lexend Deca"/>
                          <a:cs typeface="Lexend Deca"/>
                          <a:sym typeface="Lexend Deca"/>
                        </a:rPr>
                        <a:t>Posibilidad</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r>
              <a:tr h="710232">
                <a:tc>
                  <a:txBody>
                    <a:bodyPr anchor="t" rtlCol="false"/>
                    <a:lstStyle/>
                    <a:p>
                      <a:pPr algn="ctr">
                        <a:lnSpc>
                          <a:spcPts val="2098"/>
                        </a:lnSpc>
                        <a:defRPr/>
                      </a:pPr>
                      <a:r>
                        <a:rPr lang="en-US" sz="1498">
                          <a:solidFill>
                            <a:srgbClr val="FF573B"/>
                          </a:solidFill>
                          <a:latin typeface="Lexend Deca"/>
                          <a:ea typeface="Lexend Deca"/>
                          <a:cs typeface="Lexend Deca"/>
                          <a:sym typeface="Lexend Deca"/>
                        </a:rPr>
                        <a:t>Dorado</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35%</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r>
              <a:tr h="703156">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Corre</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2</a:t>
                      </a:r>
                      <a:r>
                        <a:rPr lang="en-US" sz="1498">
                          <a:solidFill>
                            <a:srgbClr val="FFFFFF"/>
                          </a:solidFill>
                          <a:latin typeface="Lexend Deca"/>
                          <a:ea typeface="Lexend Deca"/>
                          <a:cs typeface="Lexend Deca"/>
                          <a:sym typeface="Lexend Deca"/>
                        </a:rPr>
                        <a:t>5%</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r>
              <a:tr h="703156">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Juega</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20%</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r>
              <a:tr h="703156">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Camina</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12%</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r>
              <a:tr h="703156">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Está</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c>
                  <a:txBody>
                    <a:bodyPr anchor="t" rtlCol="false"/>
                    <a:lstStyle/>
                    <a:p>
                      <a:pPr algn="ctr">
                        <a:lnSpc>
                          <a:spcPts val="2098"/>
                        </a:lnSpc>
                        <a:defRPr/>
                      </a:pPr>
                      <a:r>
                        <a:rPr lang="en-US" sz="1498">
                          <a:solidFill>
                            <a:srgbClr val="FFFFFF"/>
                          </a:solidFill>
                          <a:latin typeface="Lexend Deca"/>
                          <a:ea typeface="Lexend Deca"/>
                          <a:cs typeface="Lexend Deca"/>
                          <a:sym typeface="Lexend Deca"/>
                        </a:rPr>
                        <a:t>8%</a:t>
                      </a:r>
                      <a:endParaRPr lang="en-US" sz="1100"/>
                    </a:p>
                  </a:txBody>
                  <a:tcPr marL="164195" marR="164195" marT="164195" marB="164195" anchor="ctr">
                    <a:lnL cmpd="sng" algn="ctr" cap="flat" w="32839">
                      <a:solidFill>
                        <a:srgbClr val="FFFFFF"/>
                      </a:solidFill>
                      <a:prstDash val="solid"/>
                      <a:round/>
                      <a:headEnd type="none" w="med" len="med"/>
                      <a:tailEnd type="none" w="med" len="med"/>
                    </a:lnL>
                    <a:lnR cmpd="sng" algn="ctr" cap="flat" w="32839">
                      <a:solidFill>
                        <a:srgbClr val="FFFFFF"/>
                      </a:solidFill>
                      <a:prstDash val="solid"/>
                      <a:round/>
                      <a:headEnd type="none" w="med" len="med"/>
                      <a:tailEnd type="none" w="med" len="med"/>
                    </a:lnR>
                    <a:lnT cmpd="sng" algn="ctr" cap="flat" w="32839">
                      <a:solidFill>
                        <a:srgbClr val="FFFFFF"/>
                      </a:solidFill>
                      <a:prstDash val="solid"/>
                      <a:round/>
                      <a:headEnd type="none" w="med" len="med"/>
                      <a:tailEnd type="none" w="med" len="med"/>
                    </a:lnT>
                    <a:lnB cmpd="sng" algn="ctr" cap="flat" w="32839">
                      <a:solidFill>
                        <a:srgbClr val="FFFFFF"/>
                      </a:solidFill>
                      <a:prstDash val="solid"/>
                      <a:round/>
                      <a:headEnd type="none" w="med" len="med"/>
                      <a:tailEnd type="none" w="med" len="med"/>
                    </a:lnB>
                  </a:tcPr>
                </a:tc>
              </a:tr>
            </a:tbl>
          </a:graphicData>
        </a:graphic>
      </p:graphicFrame>
      <p:sp>
        <p:nvSpPr>
          <p:cNvPr name="TextBox 9" id="9"/>
          <p:cNvSpPr txBox="true"/>
          <p:nvPr/>
        </p:nvSpPr>
        <p:spPr>
          <a:xfrm rot="0">
            <a:off x="640080" y="945289"/>
            <a:ext cx="7560038" cy="1460500"/>
          </a:xfrm>
          <a:prstGeom prst="rect">
            <a:avLst/>
          </a:prstGeom>
        </p:spPr>
        <p:txBody>
          <a:bodyPr anchor="t" rtlCol="false" tIns="0" lIns="0" bIns="0" rIns="0">
            <a:spAutoFit/>
          </a:bodyPr>
          <a:lstStyle/>
          <a:p>
            <a:pPr algn="l">
              <a:lnSpc>
                <a:spcPts val="5750"/>
              </a:lnSpc>
            </a:pPr>
            <a:r>
              <a:rPr lang="en-US" sz="5000">
                <a:solidFill>
                  <a:srgbClr val="FFFFFF"/>
                </a:solidFill>
                <a:latin typeface="Lexend Deca"/>
                <a:ea typeface="Lexend Deca"/>
                <a:cs typeface="Lexend Deca"/>
                <a:sym typeface="Lexend Deca"/>
              </a:rPr>
              <a:t>GENERACIÓN AUTOREGRESIVA</a:t>
            </a:r>
          </a:p>
        </p:txBody>
      </p:sp>
      <p:sp>
        <p:nvSpPr>
          <p:cNvPr name="TextBox 10" id="10"/>
          <p:cNvSpPr txBox="true"/>
          <p:nvPr/>
        </p:nvSpPr>
        <p:spPr>
          <a:xfrm rot="0">
            <a:off x="1474213" y="8412363"/>
            <a:ext cx="15325344" cy="946135"/>
          </a:xfrm>
          <a:prstGeom prst="rect">
            <a:avLst/>
          </a:prstGeom>
        </p:spPr>
        <p:txBody>
          <a:bodyPr anchor="t" rtlCol="false" tIns="0" lIns="0" bIns="0" rIns="0">
            <a:spAutoFit/>
          </a:bodyPr>
          <a:lstStyle/>
          <a:p>
            <a:pPr algn="l">
              <a:lnSpc>
                <a:spcPts val="3852"/>
              </a:lnSpc>
            </a:pPr>
            <a:r>
              <a:rPr lang="en-US" sz="2751">
                <a:solidFill>
                  <a:srgbClr val="FFFFFF"/>
                </a:solidFill>
                <a:latin typeface="Lexend Deca"/>
                <a:ea typeface="Lexend Deca"/>
                <a:cs typeface="Lexend Deca"/>
                <a:sym typeface="Lexend Deca"/>
              </a:rPr>
              <a:t>Porque cada nuevo token se genera considerando todos los tokens producidos anteriormente. El proceso se repite hasta completar la respuesta.</a:t>
            </a:r>
          </a:p>
        </p:txBody>
      </p:sp>
      <p:sp>
        <p:nvSpPr>
          <p:cNvPr name="TextBox 11" id="11"/>
          <p:cNvSpPr txBox="true"/>
          <p:nvPr/>
        </p:nvSpPr>
        <p:spPr>
          <a:xfrm rot="0">
            <a:off x="640080" y="3104288"/>
            <a:ext cx="3174653" cy="341182"/>
          </a:xfrm>
          <a:prstGeom prst="rect">
            <a:avLst/>
          </a:prstGeom>
        </p:spPr>
        <p:txBody>
          <a:bodyPr anchor="t" rtlCol="false" tIns="0" lIns="0" bIns="0" rIns="0">
            <a:spAutoFit/>
          </a:bodyPr>
          <a:lstStyle/>
          <a:p>
            <a:pPr algn="ctr">
              <a:lnSpc>
                <a:spcPts val="2578"/>
              </a:lnSpc>
              <a:spcBef>
                <a:spcPct val="0"/>
              </a:spcBef>
            </a:pPr>
            <a:r>
              <a:rPr lang="en-US" sz="2387">
                <a:solidFill>
                  <a:srgbClr val="FF573B"/>
                </a:solidFill>
                <a:latin typeface="Lexend Deca"/>
                <a:ea typeface="Lexend Deca"/>
                <a:cs typeface="Lexend Deca"/>
                <a:sym typeface="Lexend Deca"/>
              </a:rPr>
              <a:t>Inicio de la respuesta</a:t>
            </a:r>
          </a:p>
        </p:txBody>
      </p:sp>
      <p:sp>
        <p:nvSpPr>
          <p:cNvPr name="TextBox 12" id="12"/>
          <p:cNvSpPr txBox="true"/>
          <p:nvPr/>
        </p:nvSpPr>
        <p:spPr>
          <a:xfrm rot="0">
            <a:off x="640080" y="3677680"/>
            <a:ext cx="1926431" cy="341182"/>
          </a:xfrm>
          <a:prstGeom prst="rect">
            <a:avLst/>
          </a:prstGeom>
        </p:spPr>
        <p:txBody>
          <a:bodyPr anchor="t" rtlCol="false" tIns="0" lIns="0" bIns="0" rIns="0">
            <a:spAutoFit/>
          </a:bodyPr>
          <a:lstStyle/>
          <a:p>
            <a:pPr algn="ctr">
              <a:lnSpc>
                <a:spcPts val="2578"/>
              </a:lnSpc>
              <a:spcBef>
                <a:spcPct val="0"/>
              </a:spcBef>
            </a:pPr>
            <a:r>
              <a:rPr lang="en-US" sz="2387">
                <a:solidFill>
                  <a:srgbClr val="FFFFFF"/>
                </a:solidFill>
                <a:latin typeface="Lexend Deca"/>
                <a:ea typeface="Lexend Deca"/>
                <a:cs typeface="Lexend Deca"/>
                <a:sym typeface="Lexend Deca"/>
              </a:rPr>
              <a:t>Un labrador...</a:t>
            </a:r>
          </a:p>
        </p:txBody>
      </p:sp>
      <p:sp>
        <p:nvSpPr>
          <p:cNvPr name="TextBox 13" id="13"/>
          <p:cNvSpPr txBox="true"/>
          <p:nvPr/>
        </p:nvSpPr>
        <p:spPr>
          <a:xfrm rot="0">
            <a:off x="640080" y="4590779"/>
            <a:ext cx="2195661" cy="341182"/>
          </a:xfrm>
          <a:prstGeom prst="rect">
            <a:avLst/>
          </a:prstGeom>
        </p:spPr>
        <p:txBody>
          <a:bodyPr anchor="t" rtlCol="false" tIns="0" lIns="0" bIns="0" rIns="0">
            <a:spAutoFit/>
          </a:bodyPr>
          <a:lstStyle/>
          <a:p>
            <a:pPr algn="ctr">
              <a:lnSpc>
                <a:spcPts val="2578"/>
              </a:lnSpc>
              <a:spcBef>
                <a:spcPct val="0"/>
              </a:spcBef>
            </a:pPr>
            <a:r>
              <a:rPr lang="en-US" sz="2387">
                <a:solidFill>
                  <a:srgbClr val="FF573B"/>
                </a:solidFill>
                <a:latin typeface="Lexend Deca"/>
                <a:ea typeface="Lexend Deca"/>
                <a:cs typeface="Lexend Deca"/>
                <a:sym typeface="Lexend Deca"/>
              </a:rPr>
              <a:t>Seleccionamos</a:t>
            </a:r>
          </a:p>
        </p:txBody>
      </p:sp>
      <p:sp>
        <p:nvSpPr>
          <p:cNvPr name="TextBox 14" id="14"/>
          <p:cNvSpPr txBox="true"/>
          <p:nvPr/>
        </p:nvSpPr>
        <p:spPr>
          <a:xfrm rot="0">
            <a:off x="640080" y="5122461"/>
            <a:ext cx="3110657" cy="341182"/>
          </a:xfrm>
          <a:prstGeom prst="rect">
            <a:avLst/>
          </a:prstGeom>
        </p:spPr>
        <p:txBody>
          <a:bodyPr anchor="t" rtlCol="false" tIns="0" lIns="0" bIns="0" rIns="0">
            <a:spAutoFit/>
          </a:bodyPr>
          <a:lstStyle/>
          <a:p>
            <a:pPr algn="ctr">
              <a:lnSpc>
                <a:spcPts val="2578"/>
              </a:lnSpc>
              <a:spcBef>
                <a:spcPct val="0"/>
              </a:spcBef>
            </a:pPr>
            <a:r>
              <a:rPr lang="en-US" sz="2387">
                <a:solidFill>
                  <a:srgbClr val="FFFFFF"/>
                </a:solidFill>
                <a:latin typeface="Lexend Deca"/>
                <a:ea typeface="Lexend Deca"/>
                <a:cs typeface="Lexend Deca"/>
                <a:sym typeface="Lexend Deca"/>
              </a:rPr>
              <a:t>Un labrador dorado...</a:t>
            </a:r>
          </a:p>
        </p:txBody>
      </p:sp>
      <p:sp>
        <p:nvSpPr>
          <p:cNvPr name="TextBox 15" id="15"/>
          <p:cNvSpPr txBox="true"/>
          <p:nvPr/>
        </p:nvSpPr>
        <p:spPr>
          <a:xfrm rot="0">
            <a:off x="1474213" y="7966406"/>
            <a:ext cx="4588371" cy="384810"/>
          </a:xfrm>
          <a:prstGeom prst="rect">
            <a:avLst/>
          </a:prstGeom>
        </p:spPr>
        <p:txBody>
          <a:bodyPr anchor="t" rtlCol="false" tIns="0" lIns="0" bIns="0" rIns="0">
            <a:spAutoFit/>
          </a:bodyPr>
          <a:lstStyle/>
          <a:p>
            <a:pPr algn="ctr">
              <a:lnSpc>
                <a:spcPts val="2970"/>
              </a:lnSpc>
              <a:spcBef>
                <a:spcPct val="0"/>
              </a:spcBef>
            </a:pPr>
            <a:r>
              <a:rPr lang="en-US" sz="2750">
                <a:solidFill>
                  <a:srgbClr val="FF573B"/>
                </a:solidFill>
                <a:latin typeface="Lexend Deca"/>
                <a:ea typeface="Lexend Deca"/>
                <a:cs typeface="Lexend Deca"/>
                <a:sym typeface="Lexend Deca"/>
              </a:rPr>
              <a:t>¿Por qué es autoregresiva?</a:t>
            </a:r>
          </a:p>
        </p:txBody>
      </p:sp>
      <p:sp>
        <p:nvSpPr>
          <p:cNvPr name="TextBox 16" id="16"/>
          <p:cNvSpPr txBox="true"/>
          <p:nvPr/>
        </p:nvSpPr>
        <p:spPr>
          <a:xfrm rot="0">
            <a:off x="640080" y="6035143"/>
            <a:ext cx="1247329" cy="341182"/>
          </a:xfrm>
          <a:prstGeom prst="rect">
            <a:avLst/>
          </a:prstGeom>
        </p:spPr>
        <p:txBody>
          <a:bodyPr anchor="t" rtlCol="false" tIns="0" lIns="0" bIns="0" rIns="0">
            <a:spAutoFit/>
          </a:bodyPr>
          <a:lstStyle/>
          <a:p>
            <a:pPr algn="ctr">
              <a:lnSpc>
                <a:spcPts val="2578"/>
              </a:lnSpc>
              <a:spcBef>
                <a:spcPct val="0"/>
              </a:spcBef>
            </a:pPr>
            <a:r>
              <a:rPr lang="en-US" sz="2387">
                <a:solidFill>
                  <a:srgbClr val="FF573B"/>
                </a:solidFill>
                <a:latin typeface="Lexend Deca"/>
                <a:ea typeface="Lexend Deca"/>
                <a:cs typeface="Lexend Deca"/>
                <a:sym typeface="Lexend Deca"/>
              </a:rPr>
              <a:t>Después</a:t>
            </a:r>
          </a:p>
        </p:txBody>
      </p:sp>
      <p:sp>
        <p:nvSpPr>
          <p:cNvPr name="TextBox 17" id="17"/>
          <p:cNvSpPr txBox="true"/>
          <p:nvPr/>
        </p:nvSpPr>
        <p:spPr>
          <a:xfrm rot="0">
            <a:off x="640080" y="6604925"/>
            <a:ext cx="10003401" cy="665032"/>
          </a:xfrm>
          <a:prstGeom prst="rect">
            <a:avLst/>
          </a:prstGeom>
        </p:spPr>
        <p:txBody>
          <a:bodyPr anchor="t" rtlCol="false" tIns="0" lIns="0" bIns="0" rIns="0">
            <a:spAutoFit/>
          </a:bodyPr>
          <a:lstStyle/>
          <a:p>
            <a:pPr algn="l">
              <a:lnSpc>
                <a:spcPts val="2578"/>
              </a:lnSpc>
              <a:spcBef>
                <a:spcPct val="0"/>
              </a:spcBef>
            </a:pPr>
            <a:r>
              <a:rPr lang="en-US" sz="2387">
                <a:solidFill>
                  <a:srgbClr val="FFFFFF"/>
                </a:solidFill>
                <a:latin typeface="Lexend Deca"/>
                <a:ea typeface="Lexend Deca"/>
                <a:cs typeface="Lexend Deca"/>
                <a:sym typeface="Lexend Deca"/>
              </a:rPr>
              <a:t>Co</a:t>
            </a:r>
            <a:r>
              <a:rPr lang="en-US" sz="2387">
                <a:solidFill>
                  <a:srgbClr val="FFFFFF"/>
                </a:solidFill>
                <a:latin typeface="Lexend Deca"/>
                <a:ea typeface="Lexend Deca"/>
                <a:cs typeface="Lexend Deca"/>
                <a:sym typeface="Lexend Deca"/>
              </a:rPr>
              <a:t>ntexto inicial → probabilidades → token seleccionado → nuevo contexto → nuevas probabilidades → siguiente token →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640080" y="2254373"/>
          <a:ext cx="13841059" cy="4229100"/>
        </p:xfrm>
        <a:graphic>
          <a:graphicData uri="http://schemas.openxmlformats.org/drawingml/2006/table">
            <a:tbl>
              <a:tblPr/>
              <a:tblGrid>
                <a:gridCol w="2836627"/>
                <a:gridCol w="2847356"/>
                <a:gridCol w="3807680"/>
                <a:gridCol w="4349395"/>
              </a:tblGrid>
              <a:tr h="1143779">
                <a:tc>
                  <a:txBody>
                    <a:bodyPr anchor="t" rtlCol="false"/>
                    <a:lstStyle/>
                    <a:p>
                      <a:pPr algn="ctr">
                        <a:lnSpc>
                          <a:spcPts val="439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8440">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8440">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28440">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434"/>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4" id="4"/>
          <p:cNvSpPr txBox="true"/>
          <p:nvPr/>
        </p:nvSpPr>
        <p:spPr>
          <a:xfrm rot="0">
            <a:off x="640080" y="828988"/>
            <a:ext cx="16993610" cy="736600"/>
          </a:xfrm>
          <a:prstGeom prst="rect">
            <a:avLst/>
          </a:prstGeom>
        </p:spPr>
        <p:txBody>
          <a:bodyPr anchor="t" rtlCol="false" tIns="0" lIns="0" bIns="0" rIns="0">
            <a:spAutoFit/>
          </a:bodyPr>
          <a:lstStyle/>
          <a:p>
            <a:pPr algn="l">
              <a:lnSpc>
                <a:spcPts val="5750"/>
              </a:lnSpc>
            </a:pPr>
            <a:r>
              <a:rPr lang="en-US" sz="5000">
                <a:solidFill>
                  <a:srgbClr val="FFFFFF"/>
                </a:solidFill>
                <a:latin typeface="Lexend Deca"/>
                <a:ea typeface="Lexend Deca"/>
                <a:cs typeface="Lexend Deca"/>
                <a:sym typeface="Lexend Deca"/>
              </a:rPr>
              <a:t>PARÁMETROS DE </a:t>
            </a:r>
            <a:r>
              <a:rPr lang="en-US" sz="5000">
                <a:solidFill>
                  <a:srgbClr val="F4534B"/>
                </a:solidFill>
                <a:latin typeface="Lexend Deca"/>
                <a:ea typeface="Lexend Deca"/>
                <a:cs typeface="Lexend Deca"/>
                <a:sym typeface="Lexend Deca"/>
              </a:rPr>
              <a:t>INFERENCIA</a:t>
            </a:r>
          </a:p>
        </p:txBody>
      </p:sp>
      <p:sp>
        <p:nvSpPr>
          <p:cNvPr name="TextBox 5" id="5"/>
          <p:cNvSpPr txBox="true"/>
          <p:nvPr/>
        </p:nvSpPr>
        <p:spPr>
          <a:xfrm rot="0">
            <a:off x="1028700" y="2553143"/>
            <a:ext cx="2459249"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Configuración</a:t>
            </a:r>
          </a:p>
        </p:txBody>
      </p:sp>
      <p:sp>
        <p:nvSpPr>
          <p:cNvPr name="TextBox 6" id="6"/>
          <p:cNvSpPr txBox="true"/>
          <p:nvPr/>
        </p:nvSpPr>
        <p:spPr>
          <a:xfrm rot="0">
            <a:off x="1028700" y="3665228"/>
            <a:ext cx="2203333"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Conservadora</a:t>
            </a:r>
          </a:p>
        </p:txBody>
      </p:sp>
      <p:sp>
        <p:nvSpPr>
          <p:cNvPr name="TextBox 7" id="7"/>
          <p:cNvSpPr txBox="true"/>
          <p:nvPr/>
        </p:nvSpPr>
        <p:spPr>
          <a:xfrm rot="0">
            <a:off x="1156658" y="4773144"/>
            <a:ext cx="1819459"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Equilibrada</a:t>
            </a:r>
          </a:p>
        </p:txBody>
      </p:sp>
      <p:sp>
        <p:nvSpPr>
          <p:cNvPr name="TextBox 8" id="8"/>
          <p:cNvSpPr txBox="true"/>
          <p:nvPr/>
        </p:nvSpPr>
        <p:spPr>
          <a:xfrm rot="0">
            <a:off x="1284616" y="5685706"/>
            <a:ext cx="1563543"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Creativa</a:t>
            </a:r>
          </a:p>
        </p:txBody>
      </p:sp>
      <p:sp>
        <p:nvSpPr>
          <p:cNvPr name="TextBox 9" id="9"/>
          <p:cNvSpPr txBox="true"/>
          <p:nvPr/>
        </p:nvSpPr>
        <p:spPr>
          <a:xfrm rot="0">
            <a:off x="3868218" y="2553143"/>
            <a:ext cx="2459249"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Temperatura</a:t>
            </a:r>
          </a:p>
        </p:txBody>
      </p:sp>
      <p:sp>
        <p:nvSpPr>
          <p:cNvPr name="TextBox 10" id="10"/>
          <p:cNvSpPr txBox="true"/>
          <p:nvPr/>
        </p:nvSpPr>
        <p:spPr>
          <a:xfrm rot="0">
            <a:off x="4461996" y="3665228"/>
            <a:ext cx="635847"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0.2</a:t>
            </a:r>
          </a:p>
        </p:txBody>
      </p:sp>
      <p:sp>
        <p:nvSpPr>
          <p:cNvPr name="TextBox 11" id="11"/>
          <p:cNvSpPr txBox="true"/>
          <p:nvPr/>
        </p:nvSpPr>
        <p:spPr>
          <a:xfrm rot="0">
            <a:off x="4461996" y="4773144"/>
            <a:ext cx="635847"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0.6</a:t>
            </a:r>
          </a:p>
        </p:txBody>
      </p:sp>
      <p:sp>
        <p:nvSpPr>
          <p:cNvPr name="TextBox 12" id="12"/>
          <p:cNvSpPr txBox="true"/>
          <p:nvPr/>
        </p:nvSpPr>
        <p:spPr>
          <a:xfrm rot="0">
            <a:off x="4461996" y="5685706"/>
            <a:ext cx="635847"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1.0</a:t>
            </a:r>
          </a:p>
        </p:txBody>
      </p:sp>
      <p:sp>
        <p:nvSpPr>
          <p:cNvPr name="TextBox 13" id="13"/>
          <p:cNvSpPr txBox="true"/>
          <p:nvPr/>
        </p:nvSpPr>
        <p:spPr>
          <a:xfrm rot="0">
            <a:off x="7084620" y="2553143"/>
            <a:ext cx="2203333"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Característica</a:t>
            </a:r>
          </a:p>
        </p:txBody>
      </p:sp>
      <p:sp>
        <p:nvSpPr>
          <p:cNvPr name="TextBox 14" id="14"/>
          <p:cNvSpPr txBox="true"/>
          <p:nvPr/>
        </p:nvSpPr>
        <p:spPr>
          <a:xfrm rot="0">
            <a:off x="6940667" y="3665228"/>
            <a:ext cx="2491239"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Muy predecible</a:t>
            </a:r>
          </a:p>
        </p:txBody>
      </p:sp>
      <p:sp>
        <p:nvSpPr>
          <p:cNvPr name="TextBox 15" id="15"/>
          <p:cNvSpPr txBox="true"/>
          <p:nvPr/>
        </p:nvSpPr>
        <p:spPr>
          <a:xfrm rot="0">
            <a:off x="6620772" y="4554069"/>
            <a:ext cx="3131029" cy="86026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Balance precisión-variedad</a:t>
            </a:r>
          </a:p>
        </p:txBody>
      </p:sp>
      <p:sp>
        <p:nvSpPr>
          <p:cNvPr name="TextBox 16" id="16"/>
          <p:cNvSpPr txBox="true"/>
          <p:nvPr/>
        </p:nvSpPr>
        <p:spPr>
          <a:xfrm rot="0">
            <a:off x="6780719" y="5685706"/>
            <a:ext cx="2971081"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Mayor variabilidad</a:t>
            </a:r>
          </a:p>
        </p:txBody>
      </p:sp>
      <p:sp>
        <p:nvSpPr>
          <p:cNvPr name="TextBox 17" id="17"/>
          <p:cNvSpPr txBox="true"/>
          <p:nvPr/>
        </p:nvSpPr>
        <p:spPr>
          <a:xfrm rot="0">
            <a:off x="11299687" y="2553143"/>
            <a:ext cx="2203333"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Resultado</a:t>
            </a:r>
          </a:p>
        </p:txBody>
      </p:sp>
      <p:sp>
        <p:nvSpPr>
          <p:cNvPr name="TextBox 18" id="18"/>
          <p:cNvSpPr txBox="true"/>
          <p:nvPr/>
        </p:nvSpPr>
        <p:spPr>
          <a:xfrm rot="0">
            <a:off x="10660631" y="3665228"/>
            <a:ext cx="3181452"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Descripción objetiva</a:t>
            </a:r>
          </a:p>
        </p:txBody>
      </p:sp>
      <p:sp>
        <p:nvSpPr>
          <p:cNvPr name="TextBox 19" id="19"/>
          <p:cNvSpPr txBox="true"/>
          <p:nvPr/>
        </p:nvSpPr>
        <p:spPr>
          <a:xfrm rot="0">
            <a:off x="10660631" y="4721384"/>
            <a:ext cx="3181452"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Descripción natural</a:t>
            </a:r>
          </a:p>
        </p:txBody>
      </p:sp>
      <p:sp>
        <p:nvSpPr>
          <p:cNvPr name="TextBox 20" id="20"/>
          <p:cNvSpPr txBox="true"/>
          <p:nvPr/>
        </p:nvSpPr>
        <p:spPr>
          <a:xfrm rot="0">
            <a:off x="10276023" y="5685706"/>
            <a:ext cx="4205116" cy="42211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Descripción más expresiva</a:t>
            </a:r>
          </a:p>
        </p:txBody>
      </p:sp>
      <p:sp>
        <p:nvSpPr>
          <p:cNvPr name="TextBox 21" id="21"/>
          <p:cNvSpPr txBox="true"/>
          <p:nvPr/>
        </p:nvSpPr>
        <p:spPr>
          <a:xfrm rot="0">
            <a:off x="772784" y="7121648"/>
            <a:ext cx="10744531" cy="471646"/>
          </a:xfrm>
          <a:prstGeom prst="rect">
            <a:avLst/>
          </a:prstGeom>
        </p:spPr>
        <p:txBody>
          <a:bodyPr anchor="t" rtlCol="false" tIns="0" lIns="0" bIns="0" rIns="0">
            <a:spAutoFit/>
          </a:bodyPr>
          <a:lstStyle/>
          <a:p>
            <a:pPr algn="just">
              <a:lnSpc>
                <a:spcPts val="3928"/>
              </a:lnSpc>
            </a:pPr>
            <a:r>
              <a:rPr lang="en-US" sz="2806">
                <a:solidFill>
                  <a:srgbClr val="F4534B"/>
                </a:solidFill>
                <a:latin typeface="Lexend Deca"/>
                <a:ea typeface="Lexend Deca"/>
                <a:cs typeface="Lexend Deca"/>
                <a:sym typeface="Lexend Deca"/>
              </a:rPr>
              <a:t>Configuración seleccionada:</a:t>
            </a:r>
            <a:r>
              <a:rPr lang="en-US" sz="2806">
                <a:solidFill>
                  <a:srgbClr val="FFFFFF"/>
                </a:solidFill>
                <a:latin typeface="Lexend Deca"/>
                <a:ea typeface="Lexend Deca"/>
                <a:cs typeface="Lexend Deca"/>
                <a:sym typeface="Lexend Deca"/>
              </a:rPr>
              <a:t> Equilibrada - temperatura ≈ 0.6</a:t>
            </a:r>
          </a:p>
        </p:txBody>
      </p:sp>
      <p:sp>
        <p:nvSpPr>
          <p:cNvPr name="TextBox 22" id="22"/>
          <p:cNvSpPr txBox="true"/>
          <p:nvPr/>
        </p:nvSpPr>
        <p:spPr>
          <a:xfrm rot="0">
            <a:off x="772784" y="7545669"/>
            <a:ext cx="10620178" cy="860266"/>
          </a:xfrm>
          <a:prstGeom prst="rect">
            <a:avLst/>
          </a:prstGeom>
        </p:spPr>
        <p:txBody>
          <a:bodyPr anchor="t" rtlCol="false" tIns="0" lIns="0" bIns="0" rIns="0">
            <a:spAutoFit/>
          </a:bodyPr>
          <a:lstStyle/>
          <a:p>
            <a:pPr algn="just">
              <a:lnSpc>
                <a:spcPts val="3508"/>
              </a:lnSpc>
            </a:pPr>
            <a:r>
              <a:rPr lang="en-US" sz="2506">
                <a:solidFill>
                  <a:srgbClr val="FFFFFF"/>
                </a:solidFill>
                <a:latin typeface="Lexend Deca"/>
                <a:ea typeface="Lexend Deca"/>
                <a:cs typeface="Lexend Deca"/>
                <a:sym typeface="Lexend Deca"/>
              </a:rPr>
              <a:t>Porque el servicio debe describir correctamente una imagen sin intentar sonar robótico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2364603">
            <a:off x="1238358" y="-2614996"/>
            <a:ext cx="17324501" cy="6865265"/>
          </a:xfrm>
          <a:custGeom>
            <a:avLst/>
            <a:gdLst/>
            <a:ahLst/>
            <a:cxnLst/>
            <a:rect r="r" b="b" t="t" l="l"/>
            <a:pathLst>
              <a:path h="6865265" w="17324501">
                <a:moveTo>
                  <a:pt x="0" y="0"/>
                </a:moveTo>
                <a:lnTo>
                  <a:pt x="17324501" y="0"/>
                </a:lnTo>
                <a:lnTo>
                  <a:pt x="17324501" y="6865265"/>
                </a:lnTo>
                <a:lnTo>
                  <a:pt x="0" y="6865265"/>
                </a:lnTo>
                <a:lnTo>
                  <a:pt x="0" y="0"/>
                </a:lnTo>
                <a:close/>
              </a:path>
            </a:pathLst>
          </a:custGeom>
          <a:blipFill>
            <a:blip r:embed="rId3"/>
            <a:stretch>
              <a:fillRect l="0" t="-44731" r="0" b="-44731"/>
            </a:stretch>
          </a:blipFill>
        </p:spPr>
      </p:sp>
      <p:sp>
        <p:nvSpPr>
          <p:cNvPr name="Freeform 4" id="4"/>
          <p:cNvSpPr/>
          <p:nvPr/>
        </p:nvSpPr>
        <p:spPr>
          <a:xfrm flipH="false" flipV="false" rot="8381478">
            <a:off x="481749" y="7613815"/>
            <a:ext cx="17324501" cy="6865265"/>
          </a:xfrm>
          <a:custGeom>
            <a:avLst/>
            <a:gdLst/>
            <a:ahLst/>
            <a:cxnLst/>
            <a:rect r="r" b="b" t="t" l="l"/>
            <a:pathLst>
              <a:path h="6865265" w="17324501">
                <a:moveTo>
                  <a:pt x="0" y="0"/>
                </a:moveTo>
                <a:lnTo>
                  <a:pt x="17324502" y="0"/>
                </a:lnTo>
                <a:lnTo>
                  <a:pt x="17324502" y="6865265"/>
                </a:lnTo>
                <a:lnTo>
                  <a:pt x="0" y="6865265"/>
                </a:lnTo>
                <a:lnTo>
                  <a:pt x="0" y="0"/>
                </a:lnTo>
                <a:close/>
              </a:path>
            </a:pathLst>
          </a:custGeom>
          <a:blipFill>
            <a:blip r:embed="rId3"/>
            <a:stretch>
              <a:fillRect l="0" t="-44731" r="0" b="-44731"/>
            </a:stretch>
          </a:blipFill>
        </p:spPr>
      </p:sp>
      <p:sp>
        <p:nvSpPr>
          <p:cNvPr name="Freeform 5" id="5"/>
          <p:cNvSpPr/>
          <p:nvPr/>
        </p:nvSpPr>
        <p:spPr>
          <a:xfrm flipH="false" flipV="false" rot="0">
            <a:off x="12815316" y="0"/>
            <a:ext cx="5472684" cy="10287000"/>
          </a:xfrm>
          <a:custGeom>
            <a:avLst/>
            <a:gdLst/>
            <a:ahLst/>
            <a:cxnLst/>
            <a:rect r="r" b="b" t="t" l="l"/>
            <a:pathLst>
              <a:path h="10287000" w="5472684">
                <a:moveTo>
                  <a:pt x="0" y="0"/>
                </a:moveTo>
                <a:lnTo>
                  <a:pt x="5472684" y="0"/>
                </a:lnTo>
                <a:lnTo>
                  <a:pt x="5472684" y="10287000"/>
                </a:lnTo>
                <a:lnTo>
                  <a:pt x="0" y="10287000"/>
                </a:lnTo>
                <a:lnTo>
                  <a:pt x="0" y="0"/>
                </a:lnTo>
                <a:close/>
              </a:path>
            </a:pathLst>
          </a:custGeom>
          <a:blipFill>
            <a:blip r:embed="rId4">
              <a:alphaModFix amt="54000"/>
            </a:blip>
            <a:stretch>
              <a:fillRect l="-12500" t="0" r="-12499" b="0"/>
            </a:stretch>
          </a:blipFill>
        </p:spPr>
      </p:sp>
      <p:sp>
        <p:nvSpPr>
          <p:cNvPr name="TextBox 6" id="6"/>
          <p:cNvSpPr txBox="true"/>
          <p:nvPr/>
        </p:nvSpPr>
        <p:spPr>
          <a:xfrm rot="0">
            <a:off x="1028700" y="1114425"/>
            <a:ext cx="8346661" cy="1965996"/>
          </a:xfrm>
          <a:prstGeom prst="rect">
            <a:avLst/>
          </a:prstGeom>
        </p:spPr>
        <p:txBody>
          <a:bodyPr anchor="t" rtlCol="false" tIns="0" lIns="0" bIns="0" rIns="0">
            <a:spAutoFit/>
          </a:bodyPr>
          <a:lstStyle/>
          <a:p>
            <a:pPr algn="l">
              <a:lnSpc>
                <a:spcPts val="7697"/>
              </a:lnSpc>
            </a:pPr>
            <a:r>
              <a:rPr lang="en-US" sz="7127">
                <a:solidFill>
                  <a:srgbClr val="FFFFFF"/>
                </a:solidFill>
                <a:latin typeface="Lexend Deca"/>
                <a:ea typeface="Lexend Deca"/>
                <a:cs typeface="Lexend Deca"/>
                <a:sym typeface="Lexend Deca"/>
              </a:rPr>
              <a:t>CONFIGURACIÓN QUE SE  </a:t>
            </a:r>
          </a:p>
        </p:txBody>
      </p:sp>
      <p:sp>
        <p:nvSpPr>
          <p:cNvPr name="TextBox 7" id="7"/>
          <p:cNvSpPr txBox="true"/>
          <p:nvPr/>
        </p:nvSpPr>
        <p:spPr>
          <a:xfrm rot="0">
            <a:off x="1028700" y="3436627"/>
            <a:ext cx="11490825" cy="1109345"/>
          </a:xfrm>
          <a:prstGeom prst="rect">
            <a:avLst/>
          </a:prstGeom>
        </p:spPr>
        <p:txBody>
          <a:bodyPr anchor="t" rtlCol="false" tIns="0" lIns="0" bIns="0" rIns="0">
            <a:spAutoFit/>
          </a:bodyPr>
          <a:lstStyle/>
          <a:p>
            <a:pPr algn="just">
              <a:lnSpc>
                <a:spcPts val="4479"/>
              </a:lnSpc>
            </a:pPr>
            <a:r>
              <a:rPr lang="en-US" sz="3199">
                <a:solidFill>
                  <a:srgbClr val="FF573B"/>
                </a:solidFill>
                <a:latin typeface="Lexend Deca"/>
                <a:ea typeface="Lexend Deca"/>
                <a:cs typeface="Lexend Deca"/>
                <a:sym typeface="Lexend Deca"/>
              </a:rPr>
              <a:t>Configuración:</a:t>
            </a:r>
            <a:r>
              <a:rPr lang="en-US" sz="3199">
                <a:solidFill>
                  <a:srgbClr val="FFFFFF"/>
                </a:solidFill>
                <a:latin typeface="Lexend Deca"/>
                <a:ea typeface="Lexend Deca"/>
                <a:cs typeface="Lexend Deca"/>
                <a:sym typeface="Lexend Deca"/>
              </a:rPr>
              <a:t> Equilibrada, con una temperatura aproximada de 0.6.</a:t>
            </a:r>
          </a:p>
        </p:txBody>
      </p:sp>
      <p:sp>
        <p:nvSpPr>
          <p:cNvPr name="TextBox 8" id="8"/>
          <p:cNvSpPr txBox="true"/>
          <p:nvPr/>
        </p:nvSpPr>
        <p:spPr>
          <a:xfrm rot="0">
            <a:off x="1028700" y="5086350"/>
            <a:ext cx="16230600" cy="3124200"/>
          </a:xfrm>
          <a:prstGeom prst="rect">
            <a:avLst/>
          </a:prstGeom>
        </p:spPr>
        <p:txBody>
          <a:bodyPr anchor="t" rtlCol="false" tIns="0" lIns="0" bIns="0" rIns="0">
            <a:spAutoFit/>
          </a:bodyPr>
          <a:lstStyle/>
          <a:p>
            <a:pPr algn="just">
              <a:lnSpc>
                <a:spcPts val="4199"/>
              </a:lnSpc>
            </a:pPr>
            <a:r>
              <a:rPr lang="en-US" sz="2999">
                <a:solidFill>
                  <a:srgbClr val="FFFFFF"/>
                </a:solidFill>
                <a:latin typeface="Lexend Deca"/>
                <a:ea typeface="Lexend Deca"/>
                <a:cs typeface="Lexend Deca"/>
                <a:sym typeface="Lexend Deca"/>
              </a:rPr>
              <a:t>El servicio necesita descripciones precisas, confiables, naturales y fáciles de comprender. Una temperatura de 0.6 ofrece un equilibrio entre precisión y flexibilidad, permitiendo respuestas fluidas sin perder los elementos importantes de la imagen.</a:t>
            </a:r>
          </a:p>
          <a:p>
            <a:pPr algn="just">
              <a:lnSpc>
                <a:spcPts val="4199"/>
              </a:lnSpc>
            </a:pPr>
            <a:r>
              <a:rPr lang="en-US" sz="2999">
                <a:solidFill>
                  <a:srgbClr val="FFFFFF"/>
                </a:solidFill>
                <a:latin typeface="Lexend Deca"/>
                <a:ea typeface="Lexend Deca"/>
                <a:cs typeface="Lexend Deca"/>
                <a:sym typeface="Lexend Deca"/>
              </a:rPr>
              <a:t>Además, cumple con el objetivo de generar información rápida, precisa, contextual y escalable. </a:t>
            </a:r>
          </a:p>
          <a:p>
            <a:pPr algn="just">
              <a:lnSpc>
                <a:spcPts val="4199"/>
              </a:lnSpc>
            </a:pPr>
          </a:p>
        </p:txBody>
      </p:sp>
      <p:sp>
        <p:nvSpPr>
          <p:cNvPr name="TextBox 9" id="9"/>
          <p:cNvSpPr txBox="true"/>
          <p:nvPr/>
        </p:nvSpPr>
        <p:spPr>
          <a:xfrm rot="0">
            <a:off x="4543257" y="2106877"/>
            <a:ext cx="5829573" cy="973543"/>
          </a:xfrm>
          <a:prstGeom prst="rect">
            <a:avLst/>
          </a:prstGeom>
        </p:spPr>
        <p:txBody>
          <a:bodyPr anchor="t" rtlCol="false" tIns="0" lIns="0" bIns="0" rIns="0">
            <a:spAutoFit/>
          </a:bodyPr>
          <a:lstStyle/>
          <a:p>
            <a:pPr algn="l">
              <a:lnSpc>
                <a:spcPts val="7566"/>
              </a:lnSpc>
            </a:pPr>
            <a:r>
              <a:rPr lang="en-US" sz="7005">
                <a:solidFill>
                  <a:srgbClr val="F4592F"/>
                </a:solidFill>
                <a:latin typeface="Lexend Deca"/>
                <a:ea typeface="Lexend Deca"/>
                <a:cs typeface="Lexend Deca"/>
                <a:sym typeface="Lexend Deca"/>
              </a:rPr>
              <a:t>UTILIZARIA: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50197" y="4833821"/>
            <a:ext cx="15387606" cy="1192539"/>
          </a:xfrm>
          <a:custGeom>
            <a:avLst/>
            <a:gdLst/>
            <a:ahLst/>
            <a:cxnLst/>
            <a:rect r="r" b="b" t="t" l="l"/>
            <a:pathLst>
              <a:path h="1192539" w="15387606">
                <a:moveTo>
                  <a:pt x="0" y="0"/>
                </a:moveTo>
                <a:lnTo>
                  <a:pt x="15387606" y="0"/>
                </a:lnTo>
                <a:lnTo>
                  <a:pt x="15387606" y="1192539"/>
                </a:lnTo>
                <a:lnTo>
                  <a:pt x="0" y="1192539"/>
                </a:lnTo>
                <a:lnTo>
                  <a:pt x="0" y="0"/>
                </a:lnTo>
                <a:close/>
              </a:path>
            </a:pathLst>
          </a:custGeom>
          <a:blipFill>
            <a:blip r:embed="rId3"/>
            <a:stretch>
              <a:fillRect l="0" t="0" r="0" b="0"/>
            </a:stretch>
          </a:blipFill>
        </p:spPr>
      </p:sp>
      <p:sp>
        <p:nvSpPr>
          <p:cNvPr name="TextBox 4" id="4"/>
          <p:cNvSpPr txBox="true"/>
          <p:nvPr/>
        </p:nvSpPr>
        <p:spPr>
          <a:xfrm rot="0">
            <a:off x="621792" y="645700"/>
            <a:ext cx="7796140" cy="1965996"/>
          </a:xfrm>
          <a:prstGeom prst="rect">
            <a:avLst/>
          </a:prstGeom>
        </p:spPr>
        <p:txBody>
          <a:bodyPr anchor="t" rtlCol="false" tIns="0" lIns="0" bIns="0" rIns="0">
            <a:spAutoFit/>
          </a:bodyPr>
          <a:lstStyle/>
          <a:p>
            <a:pPr algn="l">
              <a:lnSpc>
                <a:spcPts val="7697"/>
              </a:lnSpc>
            </a:pPr>
            <a:r>
              <a:rPr lang="en-US" sz="7127">
                <a:solidFill>
                  <a:srgbClr val="FFFFFF"/>
                </a:solidFill>
                <a:latin typeface="Lexend Deca"/>
                <a:ea typeface="Lexend Deca"/>
                <a:cs typeface="Lexend Deca"/>
                <a:sym typeface="Lexend Deca"/>
              </a:rPr>
              <a:t>ARQUITECTURA CONCEPTUAL</a:t>
            </a:r>
          </a:p>
        </p:txBody>
      </p:sp>
      <p:sp>
        <p:nvSpPr>
          <p:cNvPr name="TextBox 5" id="5"/>
          <p:cNvSpPr txBox="true"/>
          <p:nvPr/>
        </p:nvSpPr>
        <p:spPr>
          <a:xfrm rot="0">
            <a:off x="621792" y="2561753"/>
            <a:ext cx="10709786" cy="973543"/>
          </a:xfrm>
          <a:prstGeom prst="rect">
            <a:avLst/>
          </a:prstGeom>
        </p:spPr>
        <p:txBody>
          <a:bodyPr anchor="t" rtlCol="false" tIns="0" lIns="0" bIns="0" rIns="0">
            <a:spAutoFit/>
          </a:bodyPr>
          <a:lstStyle/>
          <a:p>
            <a:pPr algn="l">
              <a:lnSpc>
                <a:spcPts val="7566"/>
              </a:lnSpc>
            </a:pPr>
            <a:r>
              <a:rPr lang="en-US" sz="7005">
                <a:solidFill>
                  <a:srgbClr val="F4592F"/>
                </a:solidFill>
                <a:latin typeface="Lexend Deca"/>
                <a:ea typeface="Lexend Deca"/>
                <a:cs typeface="Lexend Deca"/>
                <a:sym typeface="Lexend Deca"/>
              </a:rPr>
              <a:t>DEL SERVICIO</a:t>
            </a:r>
          </a:p>
        </p:txBody>
      </p:sp>
      <p:sp>
        <p:nvSpPr>
          <p:cNvPr name="TextBox 6" id="6"/>
          <p:cNvSpPr txBox="true"/>
          <p:nvPr/>
        </p:nvSpPr>
        <p:spPr>
          <a:xfrm rot="0">
            <a:off x="621792" y="3653858"/>
            <a:ext cx="6547104"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Flujo y componentes principales del sistema</a:t>
            </a:r>
          </a:p>
        </p:txBody>
      </p:sp>
      <p:sp>
        <p:nvSpPr>
          <p:cNvPr name="TextBox 7" id="7"/>
          <p:cNvSpPr txBox="true"/>
          <p:nvPr/>
        </p:nvSpPr>
        <p:spPr>
          <a:xfrm rot="0">
            <a:off x="1698383" y="7064585"/>
            <a:ext cx="14891234" cy="671205"/>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Usuario → Imagen → API → Modelo generativo → Transformer → Atención visual-textual → Mapeo semántico → Texto descriptivo → Respuesta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5037146"/>
            <a:ext cx="16230600" cy="1230821"/>
          </a:xfrm>
          <a:custGeom>
            <a:avLst/>
            <a:gdLst/>
            <a:ahLst/>
            <a:cxnLst/>
            <a:rect r="r" b="b" t="t" l="l"/>
            <a:pathLst>
              <a:path h="1230821" w="16230600">
                <a:moveTo>
                  <a:pt x="0" y="0"/>
                </a:moveTo>
                <a:lnTo>
                  <a:pt x="16230600" y="0"/>
                </a:lnTo>
                <a:lnTo>
                  <a:pt x="16230600" y="1230820"/>
                </a:lnTo>
                <a:lnTo>
                  <a:pt x="0" y="1230820"/>
                </a:lnTo>
                <a:lnTo>
                  <a:pt x="0" y="0"/>
                </a:lnTo>
                <a:close/>
              </a:path>
            </a:pathLst>
          </a:custGeom>
          <a:blipFill>
            <a:blip r:embed="rId3"/>
            <a:stretch>
              <a:fillRect l="0" t="0" r="0" b="0"/>
            </a:stretch>
          </a:blipFill>
        </p:spPr>
      </p:sp>
      <p:sp>
        <p:nvSpPr>
          <p:cNvPr name="TextBox 4" id="4"/>
          <p:cNvSpPr txBox="true"/>
          <p:nvPr/>
        </p:nvSpPr>
        <p:spPr>
          <a:xfrm rot="0">
            <a:off x="621792" y="645700"/>
            <a:ext cx="7796140" cy="1965996"/>
          </a:xfrm>
          <a:prstGeom prst="rect">
            <a:avLst/>
          </a:prstGeom>
        </p:spPr>
        <p:txBody>
          <a:bodyPr anchor="t" rtlCol="false" tIns="0" lIns="0" bIns="0" rIns="0">
            <a:spAutoFit/>
          </a:bodyPr>
          <a:lstStyle/>
          <a:p>
            <a:pPr algn="l">
              <a:lnSpc>
                <a:spcPts val="7697"/>
              </a:lnSpc>
            </a:pPr>
            <a:r>
              <a:rPr lang="en-US" sz="7127">
                <a:solidFill>
                  <a:srgbClr val="FFFFFF"/>
                </a:solidFill>
                <a:latin typeface="Lexend Deca"/>
                <a:ea typeface="Lexend Deca"/>
                <a:cs typeface="Lexend Deca"/>
                <a:sym typeface="Lexend Deca"/>
              </a:rPr>
              <a:t>ARQUITECTURA CONCEPTUAL</a:t>
            </a:r>
          </a:p>
        </p:txBody>
      </p:sp>
      <p:sp>
        <p:nvSpPr>
          <p:cNvPr name="TextBox 5" id="5"/>
          <p:cNvSpPr txBox="true"/>
          <p:nvPr/>
        </p:nvSpPr>
        <p:spPr>
          <a:xfrm rot="0">
            <a:off x="621792" y="2561753"/>
            <a:ext cx="13445709" cy="973543"/>
          </a:xfrm>
          <a:prstGeom prst="rect">
            <a:avLst/>
          </a:prstGeom>
        </p:spPr>
        <p:txBody>
          <a:bodyPr anchor="t" rtlCol="false" tIns="0" lIns="0" bIns="0" rIns="0">
            <a:spAutoFit/>
          </a:bodyPr>
          <a:lstStyle/>
          <a:p>
            <a:pPr algn="l">
              <a:lnSpc>
                <a:spcPts val="7566"/>
              </a:lnSpc>
            </a:pPr>
            <a:r>
              <a:rPr lang="en-US" sz="7005">
                <a:solidFill>
                  <a:srgbClr val="F4592F"/>
                </a:solidFill>
                <a:latin typeface="Lexend Deca"/>
                <a:ea typeface="Lexend Deca"/>
                <a:cs typeface="Lexend Deca"/>
                <a:sym typeface="Lexend Deca"/>
              </a:rPr>
              <a:t>DEL SERVICIO NUEVO</a:t>
            </a:r>
          </a:p>
        </p:txBody>
      </p:sp>
      <p:sp>
        <p:nvSpPr>
          <p:cNvPr name="TextBox 6" id="6"/>
          <p:cNvSpPr txBox="true"/>
          <p:nvPr/>
        </p:nvSpPr>
        <p:spPr>
          <a:xfrm rot="0">
            <a:off x="621792" y="3653858"/>
            <a:ext cx="6547104" cy="344288"/>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Flujo y componentes principales del sistema</a:t>
            </a:r>
          </a:p>
        </p:txBody>
      </p:sp>
      <p:sp>
        <p:nvSpPr>
          <p:cNvPr name="TextBox 7" id="7"/>
          <p:cNvSpPr txBox="true"/>
          <p:nvPr/>
        </p:nvSpPr>
        <p:spPr>
          <a:xfrm rot="0">
            <a:off x="1028700" y="6940598"/>
            <a:ext cx="16230600" cy="998123"/>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Usuario → Imagen + Prompt → Tokenización/Procesamiento visual → Tokens → Embeddings → Transformer → Atención → Probabilidades del siguiente token → Parámetros de inferencia → Selección de token → Generación autoregresiva → Descripción → Respuesta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57275"/>
            <a:ext cx="6463466" cy="956638"/>
          </a:xfrm>
          <a:prstGeom prst="rect">
            <a:avLst/>
          </a:prstGeom>
        </p:spPr>
        <p:txBody>
          <a:bodyPr anchor="t" rtlCol="false" tIns="0" lIns="0" bIns="0" rIns="0">
            <a:spAutoFit/>
          </a:bodyPr>
          <a:lstStyle/>
          <a:p>
            <a:pPr algn="l">
              <a:lnSpc>
                <a:spcPts val="6845"/>
              </a:lnSpc>
            </a:pPr>
            <a:r>
              <a:rPr lang="en-US" sz="6519">
                <a:solidFill>
                  <a:srgbClr val="FF573B"/>
                </a:solidFill>
                <a:latin typeface="Poppins"/>
                <a:ea typeface="Poppins"/>
                <a:cs typeface="Poppins"/>
                <a:sym typeface="Poppins"/>
              </a:rPr>
              <a:t>COMPARACIÓN</a:t>
            </a:r>
          </a:p>
        </p:txBody>
      </p:sp>
      <p:sp>
        <p:nvSpPr>
          <p:cNvPr name="TextBox 4" id="4"/>
          <p:cNvSpPr txBox="true"/>
          <p:nvPr/>
        </p:nvSpPr>
        <p:spPr>
          <a:xfrm rot="0">
            <a:off x="1028700" y="4117253"/>
            <a:ext cx="16418124" cy="3887530"/>
          </a:xfrm>
          <a:prstGeom prst="rect">
            <a:avLst/>
          </a:prstGeom>
        </p:spPr>
        <p:txBody>
          <a:bodyPr anchor="t" rtlCol="false" tIns="0" lIns="0" bIns="0" rIns="0">
            <a:spAutoFit/>
          </a:bodyPr>
          <a:lstStyle/>
          <a:p>
            <a:pPr algn="l" marL="558594" indent="-279297" lvl="1">
              <a:lnSpc>
                <a:spcPts val="2794"/>
              </a:lnSpc>
              <a:buFont typeface="Arial"/>
              <a:buChar char="•"/>
            </a:pPr>
            <a:r>
              <a:rPr lang="en-US" sz="2587">
                <a:solidFill>
                  <a:srgbClr val="FFFFFF"/>
                </a:solidFill>
                <a:latin typeface="Lexend Deca"/>
                <a:ea typeface="Lexend Deca"/>
                <a:cs typeface="Lexend Deca"/>
                <a:sym typeface="Lexend Deca"/>
              </a:rPr>
              <a:t>Prompt textual: </a:t>
            </a:r>
            <a:r>
              <a:rPr lang="en-US" sz="2587">
                <a:solidFill>
                  <a:srgbClr val="FFFFFF"/>
                </a:solidFill>
                <a:latin typeface="Lexend Deca"/>
                <a:ea typeface="Lexend Deca"/>
                <a:cs typeface="Lexend Deca"/>
                <a:sym typeface="Lexend Deca"/>
              </a:rPr>
              <a:t>Indica al modelo exactamente qué necesita el usuario.</a:t>
            </a:r>
          </a:p>
          <a:p>
            <a:pPr algn="l" marL="558593" indent="-279296" lvl="1">
              <a:lnSpc>
                <a:spcPts val="2794"/>
              </a:lnSpc>
              <a:buFont typeface="Arial"/>
              <a:buChar char="•"/>
            </a:pPr>
            <a:r>
              <a:rPr lang="en-US" sz="2587">
                <a:solidFill>
                  <a:srgbClr val="FFFFFF"/>
                </a:solidFill>
                <a:latin typeface="Lexend Deca"/>
                <a:ea typeface="Lexend Deca"/>
                <a:cs typeface="Lexend Deca"/>
                <a:sym typeface="Lexend Deca"/>
              </a:rPr>
              <a:t>Tokenización: </a:t>
            </a:r>
            <a:r>
              <a:rPr lang="en-US" sz="2587">
                <a:solidFill>
                  <a:srgbClr val="FFFFFF"/>
                </a:solidFill>
                <a:latin typeface="Lexend Deca"/>
                <a:ea typeface="Lexend Deca"/>
                <a:cs typeface="Lexend Deca"/>
                <a:sym typeface="Lexend Deca"/>
              </a:rPr>
              <a:t>Divide la instrucción en unidades procesables.</a:t>
            </a:r>
          </a:p>
          <a:p>
            <a:pPr algn="l" marL="558593" indent="-279296" lvl="1">
              <a:lnSpc>
                <a:spcPts val="2794"/>
              </a:lnSpc>
              <a:buFont typeface="Arial"/>
              <a:buChar char="•"/>
            </a:pPr>
            <a:r>
              <a:rPr lang="en-US" sz="2587">
                <a:solidFill>
                  <a:srgbClr val="FFFFFF"/>
                </a:solidFill>
                <a:latin typeface="Lexend Deca"/>
                <a:ea typeface="Lexend Deca"/>
                <a:cs typeface="Lexend Deca"/>
                <a:sym typeface="Lexend Deca"/>
              </a:rPr>
              <a:t>Tokens: </a:t>
            </a:r>
            <a:r>
              <a:rPr lang="en-US" sz="2587">
                <a:solidFill>
                  <a:srgbClr val="FFFFFF"/>
                </a:solidFill>
                <a:latin typeface="Lexend Deca"/>
                <a:ea typeface="Lexend Deca"/>
                <a:cs typeface="Lexend Deca"/>
                <a:sym typeface="Lexend Deca"/>
              </a:rPr>
              <a:t>Representan las unidades que utiliza el mode</a:t>
            </a:r>
            <a:r>
              <a:rPr lang="en-US" sz="2587">
                <a:solidFill>
                  <a:srgbClr val="FFFFFF"/>
                </a:solidFill>
                <a:latin typeface="Lexend Deca"/>
                <a:ea typeface="Lexend Deca"/>
                <a:cs typeface="Lexend Deca"/>
                <a:sym typeface="Lexend Deca"/>
              </a:rPr>
              <a:t>lo durante el procesamiento y generación.</a:t>
            </a:r>
          </a:p>
          <a:p>
            <a:pPr algn="l" marL="558593" indent="-279296" lvl="1">
              <a:lnSpc>
                <a:spcPts val="2794"/>
              </a:lnSpc>
              <a:buFont typeface="Arial"/>
              <a:buChar char="•"/>
            </a:pPr>
            <a:r>
              <a:rPr lang="en-US" sz="2587">
                <a:solidFill>
                  <a:srgbClr val="FFFFFF"/>
                </a:solidFill>
                <a:latin typeface="Lexend Deca"/>
                <a:ea typeface="Lexend Deca"/>
                <a:cs typeface="Lexend Deca"/>
                <a:sym typeface="Lexend Deca"/>
              </a:rPr>
              <a:t>Embeddings: </a:t>
            </a:r>
            <a:r>
              <a:rPr lang="en-US" sz="2587">
                <a:solidFill>
                  <a:srgbClr val="FFFFFF"/>
                </a:solidFill>
                <a:latin typeface="Lexend Deca"/>
                <a:ea typeface="Lexend Deca"/>
                <a:cs typeface="Lexend Deca"/>
                <a:sym typeface="Lexend Deca"/>
              </a:rPr>
              <a:t>Transforman tokens y características en representaciones numéricas con significado semántico.</a:t>
            </a:r>
          </a:p>
          <a:p>
            <a:pPr algn="l" marL="558593" indent="-279296" lvl="1">
              <a:lnSpc>
                <a:spcPts val="2794"/>
              </a:lnSpc>
              <a:buFont typeface="Arial"/>
              <a:buChar char="•"/>
            </a:pPr>
            <a:r>
              <a:rPr lang="en-US" sz="2587">
                <a:solidFill>
                  <a:srgbClr val="FFFFFF"/>
                </a:solidFill>
                <a:latin typeface="Lexend Deca"/>
                <a:ea typeface="Lexend Deca"/>
                <a:cs typeface="Lexend Deca"/>
                <a:sym typeface="Lexend Deca"/>
              </a:rPr>
              <a:t>Atención visual-textual: </a:t>
            </a:r>
            <a:r>
              <a:rPr lang="en-US" sz="2587">
                <a:solidFill>
                  <a:srgbClr val="FFFFFF"/>
                </a:solidFill>
                <a:latin typeface="Lexend Deca"/>
                <a:ea typeface="Lexend Deca"/>
                <a:cs typeface="Lexend Deca"/>
                <a:sym typeface="Lexend Deca"/>
              </a:rPr>
              <a:t>Determina qué partes del texto y de la imagen son más relevantes entre sí.</a:t>
            </a:r>
          </a:p>
          <a:p>
            <a:pPr algn="l" marL="558593" indent="-279296" lvl="1">
              <a:lnSpc>
                <a:spcPts val="2794"/>
              </a:lnSpc>
              <a:buFont typeface="Arial"/>
              <a:buChar char="•"/>
            </a:pPr>
            <a:r>
              <a:rPr lang="en-US" sz="2587">
                <a:solidFill>
                  <a:srgbClr val="FFFFFF"/>
                </a:solidFill>
                <a:latin typeface="Lexend Deca"/>
                <a:ea typeface="Lexend Deca"/>
                <a:cs typeface="Lexend Deca"/>
                <a:sym typeface="Lexend Deca"/>
              </a:rPr>
              <a:t>Probabilidad del siguiente token: </a:t>
            </a:r>
            <a:r>
              <a:rPr lang="en-US" sz="2587">
                <a:solidFill>
                  <a:srgbClr val="FFFFFF"/>
                </a:solidFill>
                <a:latin typeface="Lexend Deca"/>
                <a:ea typeface="Lexend Deca"/>
                <a:cs typeface="Lexend Deca"/>
                <a:sym typeface="Lexend Deca"/>
              </a:rPr>
              <a:t>Estima qué token debería aparecer después.</a:t>
            </a:r>
          </a:p>
          <a:p>
            <a:pPr algn="l" marL="558593" indent="-279296" lvl="1">
              <a:lnSpc>
                <a:spcPts val="2794"/>
              </a:lnSpc>
              <a:buFont typeface="Arial"/>
              <a:buChar char="•"/>
            </a:pPr>
            <a:r>
              <a:rPr lang="en-US" sz="2587">
                <a:solidFill>
                  <a:srgbClr val="FFFFFF"/>
                </a:solidFill>
                <a:latin typeface="Lexend Deca"/>
                <a:ea typeface="Lexend Deca"/>
                <a:cs typeface="Lexend Deca"/>
                <a:sym typeface="Lexend Deca"/>
              </a:rPr>
              <a:t>Parámetros de inferencia: </a:t>
            </a:r>
            <a:r>
              <a:rPr lang="en-US" sz="2587">
                <a:solidFill>
                  <a:srgbClr val="FFFFFF"/>
                </a:solidFill>
                <a:latin typeface="Lexend Deca"/>
                <a:ea typeface="Lexend Deca"/>
                <a:cs typeface="Lexend Deca"/>
                <a:sym typeface="Lexend Deca"/>
              </a:rPr>
              <a:t>Modifican el grado de determinismo, variedad y extensión de la respuesta.</a:t>
            </a:r>
          </a:p>
          <a:p>
            <a:pPr algn="l" marL="558593" indent="-279296" lvl="1">
              <a:lnSpc>
                <a:spcPts val="2794"/>
              </a:lnSpc>
              <a:buFont typeface="Arial"/>
              <a:buChar char="•"/>
            </a:pPr>
            <a:r>
              <a:rPr lang="en-US" sz="2587">
                <a:solidFill>
                  <a:srgbClr val="FFFFFF"/>
                </a:solidFill>
                <a:latin typeface="Lexend Deca"/>
                <a:ea typeface="Lexend Deca"/>
                <a:cs typeface="Lexend Deca"/>
                <a:sym typeface="Lexend Deca"/>
              </a:rPr>
              <a:t>Generación autoregresiva: </a:t>
            </a:r>
            <a:r>
              <a:rPr lang="en-US" sz="2587">
                <a:solidFill>
                  <a:srgbClr val="FFFFFF"/>
                </a:solidFill>
                <a:latin typeface="Lexend Deca"/>
                <a:ea typeface="Lexend Deca"/>
                <a:cs typeface="Lexend Deca"/>
                <a:sym typeface="Lexend Deca"/>
              </a:rPr>
              <a:t>Produce la respuesta secuencialmente, utilizando cada token generado para predecir el siguiente.</a:t>
            </a:r>
          </a:p>
        </p:txBody>
      </p:sp>
      <p:sp>
        <p:nvSpPr>
          <p:cNvPr name="TextBox 5" id="5"/>
          <p:cNvSpPr txBox="true"/>
          <p:nvPr/>
        </p:nvSpPr>
        <p:spPr>
          <a:xfrm rot="0">
            <a:off x="1028700" y="2821993"/>
            <a:ext cx="13321333" cy="671205"/>
          </a:xfrm>
          <a:prstGeom prst="rect">
            <a:avLst/>
          </a:prstGeom>
        </p:spPr>
        <p:txBody>
          <a:bodyPr anchor="t" rtlCol="false" tIns="0" lIns="0" bIns="0" rIns="0">
            <a:spAutoFit/>
          </a:bodyPr>
          <a:lstStyle/>
          <a:p>
            <a:pPr algn="l">
              <a:lnSpc>
                <a:spcPts val="2578"/>
              </a:lnSpc>
            </a:pPr>
            <a:r>
              <a:rPr lang="en-US" sz="2387">
                <a:solidFill>
                  <a:srgbClr val="FFFFFF"/>
                </a:solidFill>
                <a:latin typeface="Lexend Deca"/>
                <a:ea typeface="Lexend Deca"/>
                <a:cs typeface="Lexend Deca"/>
                <a:sym typeface="Lexend Deca"/>
              </a:rPr>
              <a:t>La diferencia fundamental es que la arquitectura anterior mostraba el sistema desde el exterior, mientras que la actual muestra también el procesamiento interno del modelo.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57275"/>
            <a:ext cx="6463466" cy="956638"/>
          </a:xfrm>
          <a:prstGeom prst="rect">
            <a:avLst/>
          </a:prstGeom>
        </p:spPr>
        <p:txBody>
          <a:bodyPr anchor="t" rtlCol="false" tIns="0" lIns="0" bIns="0" rIns="0">
            <a:spAutoFit/>
          </a:bodyPr>
          <a:lstStyle/>
          <a:p>
            <a:pPr algn="l">
              <a:lnSpc>
                <a:spcPts val="6845"/>
              </a:lnSpc>
            </a:pPr>
            <a:r>
              <a:rPr lang="en-US" sz="6519">
                <a:solidFill>
                  <a:srgbClr val="FF573B"/>
                </a:solidFill>
                <a:latin typeface="Poppins"/>
                <a:ea typeface="Poppins"/>
                <a:cs typeface="Poppins"/>
                <a:sym typeface="Poppins"/>
              </a:rPr>
              <a:t>REFLEXIÓN </a:t>
            </a:r>
          </a:p>
        </p:txBody>
      </p:sp>
      <p:sp>
        <p:nvSpPr>
          <p:cNvPr name="TextBox 4" id="4"/>
          <p:cNvSpPr txBox="true"/>
          <p:nvPr/>
        </p:nvSpPr>
        <p:spPr>
          <a:xfrm rot="0">
            <a:off x="1028700" y="2821993"/>
            <a:ext cx="15063278" cy="5846632"/>
          </a:xfrm>
          <a:prstGeom prst="rect">
            <a:avLst/>
          </a:prstGeom>
        </p:spPr>
        <p:txBody>
          <a:bodyPr anchor="t" rtlCol="false" tIns="0" lIns="0" bIns="0" rIns="0">
            <a:spAutoFit/>
          </a:bodyPr>
          <a:lstStyle/>
          <a:p>
            <a:pPr algn="just">
              <a:lnSpc>
                <a:spcPts val="2578"/>
              </a:lnSpc>
            </a:pPr>
            <a:r>
              <a:rPr lang="en-US" sz="2387">
                <a:solidFill>
                  <a:srgbClr val="FFFFFF"/>
                </a:solidFill>
                <a:latin typeface="Lexend Deca"/>
                <a:ea typeface="Lexend Deca"/>
                <a:cs typeface="Lexend Deca"/>
                <a:sym typeface="Lexend Deca"/>
              </a:rPr>
              <a:t>¿Qué aprendimos sobre el funcionamiento del modelo al analizar nuestro propio servicio?</a:t>
            </a:r>
          </a:p>
          <a:p>
            <a:pPr algn="just">
              <a:lnSpc>
                <a:spcPts val="2578"/>
              </a:lnSpc>
            </a:pPr>
            <a:r>
              <a:rPr lang="en-US" sz="2387">
                <a:solidFill>
                  <a:srgbClr val="FFFFFF"/>
                </a:solidFill>
                <a:latin typeface="Lexend Deca"/>
                <a:ea typeface="Lexend Deca"/>
                <a:cs typeface="Lexend Deca"/>
                <a:sym typeface="Lexend Deca"/>
              </a:rPr>
              <a:t>Aprendimos que el modelo no recibe una imagen y genera inmediatamente una descripción completa, sino que realiza diferentes procesos internos: interpreta la entrada, representa la información mediante tokens y embeddings, relaciona los elementos mediante atención y genera la respuesta progresivamente mediante la predicción del siguiente token.</a:t>
            </a:r>
          </a:p>
          <a:p>
            <a:pPr algn="just">
              <a:lnSpc>
                <a:spcPts val="2578"/>
              </a:lnSpc>
            </a:pPr>
          </a:p>
          <a:p>
            <a:pPr algn="just">
              <a:lnSpc>
                <a:spcPts val="2578"/>
              </a:lnSpc>
            </a:pPr>
            <a:r>
              <a:rPr lang="en-US" sz="2387">
                <a:solidFill>
                  <a:srgbClr val="FFFFFF"/>
                </a:solidFill>
                <a:latin typeface="Lexend Deca"/>
                <a:ea typeface="Lexend Deca"/>
                <a:cs typeface="Lexend Deca"/>
                <a:sym typeface="Lexend Deca"/>
              </a:rPr>
              <a:t>¿Cómo influye la configuración de los parámetros en la calidad de la respuesta de nuestro sistema?</a:t>
            </a:r>
          </a:p>
          <a:p>
            <a:pPr algn="just">
              <a:lnSpc>
                <a:spcPts val="2578"/>
              </a:lnSpc>
            </a:pPr>
            <a:r>
              <a:rPr lang="en-US" sz="2387">
                <a:solidFill>
                  <a:srgbClr val="FFFFFF"/>
                </a:solidFill>
                <a:latin typeface="Lexend Deca"/>
                <a:ea typeface="Lexend Deca"/>
                <a:cs typeface="Lexend Deca"/>
                <a:sym typeface="Lexend Deca"/>
              </a:rPr>
              <a:t>Los parámetros de inferencia modifican el comportamiento de la generación. Una configuración demasiado conservadora puede generar respuestas rígidas, mientras que una configuración demasiado creativa puede introducir detalles innecesarios. Para nuestro servicio necesitamos un equilibrio que priorice la precisión visual sin perder naturalidad en el lenguaje.</a:t>
            </a:r>
          </a:p>
          <a:p>
            <a:pPr algn="just">
              <a:lnSpc>
                <a:spcPts val="2578"/>
              </a:lnSpc>
            </a:pPr>
          </a:p>
          <a:p>
            <a:pPr algn="just">
              <a:lnSpc>
                <a:spcPts val="2578"/>
              </a:lnSpc>
            </a:pPr>
            <a:r>
              <a:rPr lang="en-US" sz="2387">
                <a:solidFill>
                  <a:srgbClr val="FFFFFF"/>
                </a:solidFill>
                <a:latin typeface="Lexend Deca"/>
                <a:ea typeface="Lexend Deca"/>
                <a:cs typeface="Lexend Deca"/>
                <a:sym typeface="Lexend Deca"/>
              </a:rPr>
              <a:t>¿Qué consideraciones debemos tener para integrar correctamente el modelo en nuestro servicio?</a:t>
            </a:r>
          </a:p>
          <a:p>
            <a:pPr algn="just">
              <a:lnSpc>
                <a:spcPts val="2578"/>
              </a:lnSpc>
            </a:pPr>
            <a:r>
              <a:rPr lang="en-US" sz="2387">
                <a:solidFill>
                  <a:srgbClr val="FFFFFF"/>
                </a:solidFill>
                <a:latin typeface="Lexend Deca"/>
                <a:ea typeface="Lexend Deca"/>
                <a:cs typeface="Lexend Deca"/>
                <a:sym typeface="Lexend Deca"/>
              </a:rPr>
              <a:t>Debemos diseñar prompts claros, controlar los parámetros de inferencia, evitar alucinaciones o información no visible, proteger la privacidad de las imágenes, validar la calidad de las respuestas, controlar costos y tiempos de procesamiento y seleccionar dinámicamente el modelo más adecuado según la complejidad de la tarea.</a:t>
            </a:r>
          </a:p>
          <a:p>
            <a:pPr algn="just">
              <a:lnSpc>
                <a:spcPts val="257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DAHSsMoiwR0</dc:identifier>
  <dcterms:modified xsi:type="dcterms:W3CDTF">2011-08-01T06:04:30Z</dcterms:modified>
  <cp:revision>1</cp:revision>
  <dc:title>Actividad 1 y 2</dc:title>
</cp:coreProperties>
</file>